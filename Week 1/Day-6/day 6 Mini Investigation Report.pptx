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2"/>
  </p:notesMasterIdLst>
  <p:handoutMasterIdLst>
    <p:handoutMasterId r:id="rId23"/>
  </p:handoutMasterIdLst>
  <p:sldIdLst>
    <p:sldId id="256" r:id="rId5"/>
    <p:sldId id="271" r:id="rId6"/>
    <p:sldId id="279" r:id="rId7"/>
    <p:sldId id="281" r:id="rId8"/>
    <p:sldId id="280" r:id="rId9"/>
    <p:sldId id="284" r:id="rId10"/>
    <p:sldId id="285" r:id="rId11"/>
    <p:sldId id="286" r:id="rId12"/>
    <p:sldId id="287" r:id="rId13"/>
    <p:sldId id="288" r:id="rId14"/>
    <p:sldId id="289" r:id="rId15"/>
    <p:sldId id="290" r:id="rId16"/>
    <p:sldId id="291" r:id="rId17"/>
    <p:sldId id="292" r:id="rId18"/>
    <p:sldId id="293" r:id="rId19"/>
    <p:sldId id="294" r:id="rId20"/>
    <p:sldId id="29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79"/>
            <p14:sldId id="281"/>
            <p14:sldId id="280"/>
            <p14:sldId id="284"/>
            <p14:sldId id="285"/>
            <p14:sldId id="286"/>
            <p14:sldId id="287"/>
            <p14:sldId id="288"/>
            <p14:sldId id="289"/>
            <p14:sldId id="290"/>
            <p14:sldId id="291"/>
            <p14:sldId id="292"/>
            <p14:sldId id="293"/>
            <p14:sldId id="294"/>
            <p14:sldId id="295"/>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41" autoAdjust="0"/>
  </p:normalViewPr>
  <p:slideViewPr>
    <p:cSldViewPr snapToGrid="0">
      <p:cViewPr varScale="1">
        <p:scale>
          <a:sx n="78" d="100"/>
          <a:sy n="78" d="100"/>
        </p:scale>
        <p:origin x="878" y="5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7/11/2026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7/11/2026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7/11/2026</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7/11/2026</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zoom.u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3043882"/>
          </a:xfrm>
        </p:spPr>
        <p:txBody>
          <a:bodyPr anchor="ctr" anchorCtr="0">
            <a:normAutofit/>
          </a:bodyPr>
          <a:lstStyle/>
          <a:p>
            <a:r>
              <a:rPr lang="en-US" sz="4800" b="1" dirty="0">
                <a:latin typeface="Times New Roman" panose="02020603050405020304" pitchFamily="18" charset="0"/>
                <a:cs typeface="Times New Roman" panose="02020603050405020304" pitchFamily="18" charset="0"/>
              </a:rPr>
              <a:t>             Mini Investigation Report</a:t>
            </a:r>
            <a:br>
              <a:rPr lang="en-US" sz="4800" b="1" dirty="0">
                <a:latin typeface="Times New Roman" panose="02020603050405020304" pitchFamily="18" charset="0"/>
                <a:cs typeface="Times New Roman" panose="02020603050405020304" pitchFamily="18" charset="0"/>
              </a:rPr>
            </a:br>
            <a:r>
              <a:rPr lang="en-US" sz="4800" b="1" dirty="0">
                <a:latin typeface="Times New Roman" panose="02020603050405020304" pitchFamily="18" charset="0"/>
                <a:cs typeface="Times New Roman" panose="02020603050405020304" pitchFamily="18" charset="0"/>
              </a:rPr>
              <a:t>                    Company:</a:t>
            </a:r>
            <a:r>
              <a:rPr lang="en-US" sz="4800" dirty="0">
                <a:latin typeface="Times New Roman" panose="02020603050405020304" pitchFamily="18" charset="0"/>
                <a:cs typeface="Times New Roman" panose="02020603050405020304" pitchFamily="18" charset="0"/>
              </a:rPr>
              <a:t> Zoom</a:t>
            </a: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8337658" cy="640080"/>
          </a:xfrm>
        </p:spPr>
        <p:txBody>
          <a:bodyPr>
            <a:noAutofit/>
          </a:bodyPr>
          <a:lstStyle/>
          <a:p>
            <a:r>
              <a:rPr lang="en-US" dirty="0">
                <a:latin typeface="Times New Roman" panose="02020603050405020304" pitchFamily="18" charset="0"/>
                <a:cs typeface="Times New Roman" panose="02020603050405020304" pitchFamily="18" charset="0"/>
              </a:rPr>
              <a:t>Company Overview – Zoom Communications</a:t>
            </a:r>
          </a:p>
        </p:txBody>
      </p:sp>
      <p:sp>
        <p:nvSpPr>
          <p:cNvPr id="38" name="Content Placeholder 17"/>
          <p:cNvSpPr txBox="1">
            <a:spLocks/>
          </p:cNvSpPr>
          <p:nvPr/>
        </p:nvSpPr>
        <p:spPr>
          <a:xfrm>
            <a:off x="541610" y="1524708"/>
            <a:ext cx="10283706" cy="5023576"/>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400" b="1" dirty="0">
                <a:latin typeface="Times New Roman" panose="02020603050405020304" pitchFamily="18" charset="0"/>
                <a:cs typeface="Times New Roman" panose="02020603050405020304" pitchFamily="18" charset="0"/>
              </a:rPr>
              <a:t>Introduction</a:t>
            </a:r>
          </a:p>
          <a:p>
            <a:pPr algn="just">
              <a:lnSpc>
                <a:spcPct val="150000"/>
              </a:lnSpc>
            </a:pPr>
            <a:r>
              <a:rPr lang="en-US" sz="2600" b="1" dirty="0">
                <a:latin typeface="Times New Roman" panose="02020603050405020304" pitchFamily="18" charset="0"/>
                <a:cs typeface="Times New Roman" panose="02020603050405020304" pitchFamily="18" charset="0"/>
              </a:rPr>
              <a:t>Zoom Communications, Inc.</a:t>
            </a:r>
            <a:r>
              <a:rPr lang="en-US" sz="2600" dirty="0">
                <a:latin typeface="Times New Roman" panose="02020603050405020304" pitchFamily="18" charset="0"/>
                <a:cs typeface="Times New Roman" panose="02020603050405020304" pitchFamily="18" charset="0"/>
              </a:rPr>
              <a:t> is a leading global cloud-based communications technology company that provides secure and reliable solutions for video conferencing, online meetings, team collaboration, webinars, cloud telephony, and AI-powered productivity. Founded in </a:t>
            </a:r>
            <a:r>
              <a:rPr lang="en-US" sz="2600" b="1" dirty="0">
                <a:latin typeface="Times New Roman" panose="02020603050405020304" pitchFamily="18" charset="0"/>
                <a:cs typeface="Times New Roman" panose="02020603050405020304" pitchFamily="18" charset="0"/>
              </a:rPr>
              <a:t>2011</a:t>
            </a:r>
            <a:r>
              <a:rPr lang="en-US" sz="2600" dirty="0">
                <a:latin typeface="Times New Roman" panose="02020603050405020304" pitchFamily="18" charset="0"/>
                <a:cs typeface="Times New Roman" panose="02020603050405020304" pitchFamily="18" charset="0"/>
              </a:rPr>
              <a:t> by </a:t>
            </a:r>
            <a:r>
              <a:rPr lang="en-US" sz="2600" b="1" dirty="0">
                <a:latin typeface="Times New Roman" panose="02020603050405020304" pitchFamily="18" charset="0"/>
                <a:cs typeface="Times New Roman" panose="02020603050405020304" pitchFamily="18" charset="0"/>
              </a:rPr>
              <a:t>Eric Yuan</a:t>
            </a:r>
            <a:r>
              <a:rPr lang="en-US" sz="2600" dirty="0">
                <a:latin typeface="Times New Roman" panose="02020603050405020304" pitchFamily="18" charset="0"/>
                <a:cs typeface="Times New Roman" panose="02020603050405020304" pitchFamily="18" charset="0"/>
              </a:rPr>
              <a:t>, the company has transformed the way people communicate by enabling seamless virtual collaboration across businesses, educational institutions, healthcare organizations, government agencies, and individual users worldwide.</a:t>
            </a:r>
          </a:p>
          <a:p>
            <a:pPr algn="just">
              <a:lnSpc>
                <a:spcPct val="150000"/>
              </a:lnSpc>
            </a:pPr>
            <a:r>
              <a:rPr lang="en-US" sz="2600" dirty="0">
                <a:latin typeface="Times New Roman" panose="02020603050405020304" pitchFamily="18" charset="0"/>
                <a:cs typeface="Times New Roman" panose="02020603050405020304" pitchFamily="18" charset="0"/>
              </a:rPr>
              <a:t>Zoom gained worldwide recognition during the COVID-19 pandemic as one of the most widely used video communication platforms, supporting millions of users for remote work, online learning, and virtual events. Since then, the company has expanded its portfolio beyond video meetings to include </a:t>
            </a:r>
            <a:r>
              <a:rPr lang="en-US" sz="2600" b="1" dirty="0">
                <a:latin typeface="Times New Roman" panose="02020603050405020304" pitchFamily="18" charset="0"/>
                <a:cs typeface="Times New Roman" panose="02020603050405020304" pitchFamily="18" charset="0"/>
              </a:rPr>
              <a:t>Zoom Workplace</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Zoom Phone</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Zoom Team Chat</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Zoom Whiteboard</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Zoom Contact Center</a:t>
            </a:r>
            <a:r>
              <a:rPr lang="en-US" sz="2600" dirty="0">
                <a:latin typeface="Times New Roman" panose="02020603050405020304" pitchFamily="18" charset="0"/>
                <a:cs typeface="Times New Roman" panose="02020603050405020304" pitchFamily="18" charset="0"/>
              </a:rPr>
              <a:t>, and </a:t>
            </a:r>
            <a:r>
              <a:rPr lang="en-US" sz="2600" b="1" dirty="0">
                <a:latin typeface="Times New Roman" panose="02020603050405020304" pitchFamily="18" charset="0"/>
                <a:cs typeface="Times New Roman" panose="02020603050405020304" pitchFamily="18" charset="0"/>
              </a:rPr>
              <a:t>Zoom AI Companion</a:t>
            </a:r>
            <a:r>
              <a:rPr lang="en-US" sz="2600" dirty="0">
                <a:latin typeface="Times New Roman" panose="02020603050405020304" pitchFamily="18" charset="0"/>
                <a:cs typeface="Times New Roman" panose="02020603050405020304" pitchFamily="18" charset="0"/>
              </a:rPr>
              <a:t>, creating a comprehensive platform for modern workplace collaboration</a:t>
            </a:r>
          </a:p>
          <a:p>
            <a:pPr marL="0" indent="0">
              <a:spcAft>
                <a:spcPts val="600"/>
              </a:spcAft>
              <a:buNone/>
              <a:defRPr/>
            </a:pPr>
            <a:r>
              <a:rPr lang="en-US" dirty="0">
                <a:latin typeface="Times New Roman" panose="02020603050405020304" pitchFamily="18" charset="0"/>
                <a:cs typeface="Times New Roman" panose="02020603050405020304" pitchFamily="18" charset="0"/>
              </a:rPr>
              <a:t>.</a:t>
            </a:r>
          </a:p>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Basic Information</a:t>
            </a:r>
          </a:p>
        </p:txBody>
      </p:sp>
      <p:sp>
        <p:nvSpPr>
          <p:cNvPr id="25" name="Content Placeholder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endParaRPr lang="en-US" dirty="0">
              <a:latin typeface="Segoe UI" panose="020B0502040204020203" pitchFamily="34" charset="0"/>
              <a:cs typeface="Segoe UI" panose="020B0502040204020203" pitchFamily="34" charset="0"/>
            </a:endParaRPr>
          </a:p>
        </p:txBody>
      </p:sp>
      <p:graphicFrame>
        <p:nvGraphicFramePr>
          <p:cNvPr id="2" name="Table 1">
            <a:extLst>
              <a:ext uri="{FF2B5EF4-FFF2-40B4-BE49-F238E27FC236}">
                <a16:creationId xmlns:a16="http://schemas.microsoft.com/office/drawing/2014/main" id="{4F1FFCC2-9581-3483-AEE9-A3713348B73F}"/>
              </a:ext>
            </a:extLst>
          </p:cNvPr>
          <p:cNvGraphicFramePr>
            <a:graphicFrameLocks noGrp="1"/>
          </p:cNvGraphicFramePr>
          <p:nvPr>
            <p:extLst>
              <p:ext uri="{D42A27DB-BD31-4B8C-83A1-F6EECF244321}">
                <p14:modId xmlns:p14="http://schemas.microsoft.com/office/powerpoint/2010/main" val="208584335"/>
              </p:ext>
            </p:extLst>
          </p:nvPr>
        </p:nvGraphicFramePr>
        <p:xfrm>
          <a:off x="1394827" y="1435101"/>
          <a:ext cx="5822050" cy="4310817"/>
        </p:xfrm>
        <a:graphic>
          <a:graphicData uri="http://schemas.openxmlformats.org/drawingml/2006/table">
            <a:tbl>
              <a:tblPr>
                <a:tableStyleId>{22838BEF-8BB2-4498-84A7-C5851F593DF1}</a:tableStyleId>
              </a:tblPr>
              <a:tblGrid>
                <a:gridCol w="2911025">
                  <a:extLst>
                    <a:ext uri="{9D8B030D-6E8A-4147-A177-3AD203B41FA5}">
                      <a16:colId xmlns:a16="http://schemas.microsoft.com/office/drawing/2014/main" val="3660993682"/>
                    </a:ext>
                  </a:extLst>
                </a:gridCol>
                <a:gridCol w="2911025">
                  <a:extLst>
                    <a:ext uri="{9D8B030D-6E8A-4147-A177-3AD203B41FA5}">
                      <a16:colId xmlns:a16="http://schemas.microsoft.com/office/drawing/2014/main" val="2782594703"/>
                    </a:ext>
                  </a:extLst>
                </a:gridCol>
              </a:tblGrid>
              <a:tr h="224128">
                <a:tc>
                  <a:txBody>
                    <a:bodyPr/>
                    <a:lstStyle/>
                    <a:p>
                      <a:pPr algn="just">
                        <a:buNone/>
                      </a:pPr>
                      <a:r>
                        <a:rPr lang="en-US" sz="1800" b="1">
                          <a:latin typeface="Times New Roman" panose="02020603050405020304" pitchFamily="18" charset="0"/>
                          <a:cs typeface="Times New Roman" panose="02020603050405020304" pitchFamily="18" charset="0"/>
                        </a:rPr>
                        <a:t>Attribute</a:t>
                      </a:r>
                      <a:endParaRPr lang="en-US" sz="1800">
                        <a:latin typeface="Times New Roman" panose="02020603050405020304" pitchFamily="18" charset="0"/>
                        <a:cs typeface="Times New Roman" panose="02020603050405020304" pitchFamily="18" charset="0"/>
                      </a:endParaRPr>
                    </a:p>
                  </a:txBody>
                  <a:tcPr marL="56032" marR="56032" marT="28016" marB="28016" anchor="ctr"/>
                </a:tc>
                <a:tc>
                  <a:txBody>
                    <a:bodyPr/>
                    <a:lstStyle/>
                    <a:p>
                      <a:pPr algn="just">
                        <a:buNone/>
                      </a:pPr>
                      <a:r>
                        <a:rPr lang="en-US" sz="1800" b="1" dirty="0">
                          <a:latin typeface="Times New Roman" panose="02020603050405020304" pitchFamily="18" charset="0"/>
                          <a:cs typeface="Times New Roman" panose="02020603050405020304" pitchFamily="18" charset="0"/>
                        </a:rPr>
                        <a:t>Details</a:t>
                      </a:r>
                      <a:endParaRPr lang="en-US" sz="1800" dirty="0">
                        <a:latin typeface="Times New Roman" panose="02020603050405020304" pitchFamily="18" charset="0"/>
                        <a:cs typeface="Times New Roman" panose="02020603050405020304" pitchFamily="18" charset="0"/>
                      </a:endParaRPr>
                    </a:p>
                  </a:txBody>
                  <a:tcPr marL="56032" marR="56032" marT="28016" marB="28016" anchor="ctr"/>
                </a:tc>
                <a:extLst>
                  <a:ext uri="{0D108BD9-81ED-4DB2-BD59-A6C34878D82A}">
                    <a16:rowId xmlns:a16="http://schemas.microsoft.com/office/drawing/2014/main" val="2373446781"/>
                  </a:ext>
                </a:extLst>
              </a:tr>
              <a:tr h="560320">
                <a:tc>
                  <a:txBody>
                    <a:bodyPr/>
                    <a:lstStyle/>
                    <a:p>
                      <a:pPr algn="just">
                        <a:buNone/>
                      </a:pPr>
                      <a:r>
                        <a:rPr lang="en-US" sz="1400" b="1" dirty="0">
                          <a:latin typeface="Times New Roman" panose="02020603050405020304" pitchFamily="18" charset="0"/>
                          <a:cs typeface="Times New Roman" panose="02020603050405020304" pitchFamily="18" charset="0"/>
                        </a:rPr>
                        <a:t>Company Name</a:t>
                      </a:r>
                      <a:endParaRPr lang="en-US" sz="1400" dirty="0">
                        <a:latin typeface="Times New Roman" panose="02020603050405020304" pitchFamily="18" charset="0"/>
                        <a:cs typeface="Times New Roman" panose="02020603050405020304" pitchFamily="18" charset="0"/>
                      </a:endParaRPr>
                    </a:p>
                  </a:txBody>
                  <a:tcPr marL="56032" marR="56032" marT="28016" marB="28016" anchor="ctr"/>
                </a:tc>
                <a:tc>
                  <a:txBody>
                    <a:bodyPr/>
                    <a:lstStyle/>
                    <a:p>
                      <a:pPr algn="just">
                        <a:buNone/>
                      </a:pPr>
                      <a:r>
                        <a:rPr lang="en-US" sz="1400">
                          <a:latin typeface="Times New Roman" panose="02020603050405020304" pitchFamily="18" charset="0"/>
                          <a:cs typeface="Times New Roman" panose="02020603050405020304" pitchFamily="18" charset="0"/>
                        </a:rPr>
                        <a:t>Zoom Communications, Inc.</a:t>
                      </a:r>
                    </a:p>
                  </a:txBody>
                  <a:tcPr marL="56032" marR="56032" marT="28016" marB="28016" anchor="ctr"/>
                </a:tc>
                <a:extLst>
                  <a:ext uri="{0D108BD9-81ED-4DB2-BD59-A6C34878D82A}">
                    <a16:rowId xmlns:a16="http://schemas.microsoft.com/office/drawing/2014/main" val="253896214"/>
                  </a:ext>
                </a:extLst>
              </a:tr>
              <a:tr h="560320">
                <a:tc>
                  <a:txBody>
                    <a:bodyPr/>
                    <a:lstStyle/>
                    <a:p>
                      <a:pPr algn="just">
                        <a:buNone/>
                      </a:pPr>
                      <a:r>
                        <a:rPr lang="en-US" sz="1400" b="1">
                          <a:latin typeface="Times New Roman" panose="02020603050405020304" pitchFamily="18" charset="0"/>
                          <a:cs typeface="Times New Roman" panose="02020603050405020304" pitchFamily="18" charset="0"/>
                        </a:rPr>
                        <a:t>Former Name</a:t>
                      </a:r>
                      <a:endParaRPr lang="en-US" sz="1400">
                        <a:latin typeface="Times New Roman" panose="02020603050405020304" pitchFamily="18" charset="0"/>
                        <a:cs typeface="Times New Roman" panose="02020603050405020304" pitchFamily="18" charset="0"/>
                      </a:endParaRPr>
                    </a:p>
                  </a:txBody>
                  <a:tcPr marL="56032" marR="56032" marT="28016" marB="28016" anchor="ctr"/>
                </a:tc>
                <a:tc>
                  <a:txBody>
                    <a:bodyPr/>
                    <a:lstStyle/>
                    <a:p>
                      <a:pPr algn="just">
                        <a:buNone/>
                      </a:pPr>
                      <a:r>
                        <a:rPr lang="en-US" sz="1400" dirty="0">
                          <a:latin typeface="Times New Roman" panose="02020603050405020304" pitchFamily="18" charset="0"/>
                          <a:cs typeface="Times New Roman" panose="02020603050405020304" pitchFamily="18" charset="0"/>
                        </a:rPr>
                        <a:t>Zoom Video Communications, Inc.</a:t>
                      </a:r>
                    </a:p>
                  </a:txBody>
                  <a:tcPr marL="56032" marR="56032" marT="28016" marB="28016" anchor="ctr"/>
                </a:tc>
                <a:extLst>
                  <a:ext uri="{0D108BD9-81ED-4DB2-BD59-A6C34878D82A}">
                    <a16:rowId xmlns:a16="http://schemas.microsoft.com/office/drawing/2014/main" val="2786110848"/>
                  </a:ext>
                </a:extLst>
              </a:tr>
              <a:tr h="224128">
                <a:tc>
                  <a:txBody>
                    <a:bodyPr/>
                    <a:lstStyle/>
                    <a:p>
                      <a:pPr algn="just">
                        <a:buNone/>
                      </a:pPr>
                      <a:r>
                        <a:rPr lang="en-US" sz="1400" b="1">
                          <a:latin typeface="Times New Roman" panose="02020603050405020304" pitchFamily="18" charset="0"/>
                          <a:cs typeface="Times New Roman" panose="02020603050405020304" pitchFamily="18" charset="0"/>
                        </a:rPr>
                        <a:t>Founded</a:t>
                      </a:r>
                      <a:endParaRPr lang="en-US" sz="1400">
                        <a:latin typeface="Times New Roman" panose="02020603050405020304" pitchFamily="18" charset="0"/>
                        <a:cs typeface="Times New Roman" panose="02020603050405020304" pitchFamily="18" charset="0"/>
                      </a:endParaRPr>
                    </a:p>
                  </a:txBody>
                  <a:tcPr marL="56032" marR="56032" marT="28016" marB="28016" anchor="ctr"/>
                </a:tc>
                <a:tc>
                  <a:txBody>
                    <a:bodyPr/>
                    <a:lstStyle/>
                    <a:p>
                      <a:pPr algn="just">
                        <a:buNone/>
                      </a:pPr>
                      <a:r>
                        <a:rPr lang="en-US" sz="1400">
                          <a:latin typeface="Times New Roman" panose="02020603050405020304" pitchFamily="18" charset="0"/>
                          <a:cs typeface="Times New Roman" panose="02020603050405020304" pitchFamily="18" charset="0"/>
                        </a:rPr>
                        <a:t>April 21, 2011</a:t>
                      </a:r>
                    </a:p>
                  </a:txBody>
                  <a:tcPr marL="56032" marR="56032" marT="28016" marB="28016" anchor="ctr"/>
                </a:tc>
                <a:extLst>
                  <a:ext uri="{0D108BD9-81ED-4DB2-BD59-A6C34878D82A}">
                    <a16:rowId xmlns:a16="http://schemas.microsoft.com/office/drawing/2014/main" val="3729124724"/>
                  </a:ext>
                </a:extLst>
              </a:tr>
              <a:tr h="224128">
                <a:tc>
                  <a:txBody>
                    <a:bodyPr/>
                    <a:lstStyle/>
                    <a:p>
                      <a:pPr algn="just">
                        <a:buNone/>
                      </a:pPr>
                      <a:r>
                        <a:rPr lang="en-US" sz="1400" b="1">
                          <a:latin typeface="Times New Roman" panose="02020603050405020304" pitchFamily="18" charset="0"/>
                          <a:cs typeface="Times New Roman" panose="02020603050405020304" pitchFamily="18" charset="0"/>
                        </a:rPr>
                        <a:t>Founder</a:t>
                      </a:r>
                      <a:endParaRPr lang="en-US" sz="1400">
                        <a:latin typeface="Times New Roman" panose="02020603050405020304" pitchFamily="18" charset="0"/>
                        <a:cs typeface="Times New Roman" panose="02020603050405020304" pitchFamily="18" charset="0"/>
                      </a:endParaRPr>
                    </a:p>
                  </a:txBody>
                  <a:tcPr marL="56032" marR="56032" marT="28016" marB="28016" anchor="ctr"/>
                </a:tc>
                <a:tc>
                  <a:txBody>
                    <a:bodyPr/>
                    <a:lstStyle/>
                    <a:p>
                      <a:pPr algn="just">
                        <a:buNone/>
                      </a:pPr>
                      <a:r>
                        <a:rPr lang="en-US" sz="1400">
                          <a:latin typeface="Times New Roman" panose="02020603050405020304" pitchFamily="18" charset="0"/>
                          <a:cs typeface="Times New Roman" panose="02020603050405020304" pitchFamily="18" charset="0"/>
                        </a:rPr>
                        <a:t>Eric Yuan</a:t>
                      </a:r>
                    </a:p>
                  </a:txBody>
                  <a:tcPr marL="56032" marR="56032" marT="28016" marB="28016" anchor="ctr"/>
                </a:tc>
                <a:extLst>
                  <a:ext uri="{0D108BD9-81ED-4DB2-BD59-A6C34878D82A}">
                    <a16:rowId xmlns:a16="http://schemas.microsoft.com/office/drawing/2014/main" val="819649378"/>
                  </a:ext>
                </a:extLst>
              </a:tr>
              <a:tr h="224128">
                <a:tc>
                  <a:txBody>
                    <a:bodyPr/>
                    <a:lstStyle/>
                    <a:p>
                      <a:pPr algn="just">
                        <a:buNone/>
                      </a:pPr>
                      <a:r>
                        <a:rPr lang="en-US" sz="1400" b="1">
                          <a:latin typeface="Times New Roman" panose="02020603050405020304" pitchFamily="18" charset="0"/>
                          <a:cs typeface="Times New Roman" panose="02020603050405020304" pitchFamily="18" charset="0"/>
                        </a:rPr>
                        <a:t>Headquarters</a:t>
                      </a:r>
                      <a:endParaRPr lang="en-US" sz="1400">
                        <a:latin typeface="Times New Roman" panose="02020603050405020304" pitchFamily="18" charset="0"/>
                        <a:cs typeface="Times New Roman" panose="02020603050405020304" pitchFamily="18" charset="0"/>
                      </a:endParaRPr>
                    </a:p>
                  </a:txBody>
                  <a:tcPr marL="56032" marR="56032" marT="28016" marB="28016" anchor="ctr"/>
                </a:tc>
                <a:tc>
                  <a:txBody>
                    <a:bodyPr/>
                    <a:lstStyle/>
                    <a:p>
                      <a:pPr algn="just">
                        <a:buNone/>
                      </a:pPr>
                      <a:r>
                        <a:rPr lang="en-US" sz="1400" dirty="0">
                          <a:latin typeface="Times New Roman" panose="02020603050405020304" pitchFamily="18" charset="0"/>
                          <a:cs typeface="Times New Roman" panose="02020603050405020304" pitchFamily="18" charset="0"/>
                        </a:rPr>
                        <a:t>San Jose</a:t>
                      </a:r>
                    </a:p>
                  </a:txBody>
                  <a:tcPr marL="56032" marR="56032" marT="28016" marB="28016" anchor="ctr"/>
                </a:tc>
                <a:extLst>
                  <a:ext uri="{0D108BD9-81ED-4DB2-BD59-A6C34878D82A}">
                    <a16:rowId xmlns:a16="http://schemas.microsoft.com/office/drawing/2014/main" val="4194027591"/>
                  </a:ext>
                </a:extLst>
              </a:tr>
              <a:tr h="728417">
                <a:tc>
                  <a:txBody>
                    <a:bodyPr/>
                    <a:lstStyle/>
                    <a:p>
                      <a:pPr algn="just">
                        <a:buNone/>
                      </a:pPr>
                      <a:r>
                        <a:rPr lang="en-US" sz="1400" b="1">
                          <a:latin typeface="Times New Roman" panose="02020603050405020304" pitchFamily="18" charset="0"/>
                          <a:cs typeface="Times New Roman" panose="02020603050405020304" pitchFamily="18" charset="0"/>
                        </a:rPr>
                        <a:t>Industry</a:t>
                      </a:r>
                      <a:endParaRPr lang="en-US" sz="1400">
                        <a:latin typeface="Times New Roman" panose="02020603050405020304" pitchFamily="18" charset="0"/>
                        <a:cs typeface="Times New Roman" panose="02020603050405020304" pitchFamily="18" charset="0"/>
                      </a:endParaRPr>
                    </a:p>
                  </a:txBody>
                  <a:tcPr marL="56032" marR="56032" marT="28016" marB="28016" anchor="ctr"/>
                </a:tc>
                <a:tc>
                  <a:txBody>
                    <a:bodyPr/>
                    <a:lstStyle/>
                    <a:p>
                      <a:pPr algn="just">
                        <a:buNone/>
                      </a:pPr>
                      <a:r>
                        <a:rPr lang="en-US" sz="1400">
                          <a:latin typeface="Times New Roman" panose="02020603050405020304" pitchFamily="18" charset="0"/>
                          <a:cs typeface="Times New Roman" panose="02020603050405020304" pitchFamily="18" charset="0"/>
                        </a:rPr>
                        <a:t>Cloud Communications and Video Conferencing</a:t>
                      </a:r>
                    </a:p>
                  </a:txBody>
                  <a:tcPr marL="56032" marR="56032" marT="28016" marB="28016" anchor="ctr"/>
                </a:tc>
                <a:extLst>
                  <a:ext uri="{0D108BD9-81ED-4DB2-BD59-A6C34878D82A}">
                    <a16:rowId xmlns:a16="http://schemas.microsoft.com/office/drawing/2014/main" val="3264225175"/>
                  </a:ext>
                </a:extLst>
              </a:tr>
              <a:tr h="224128">
                <a:tc>
                  <a:txBody>
                    <a:bodyPr/>
                    <a:lstStyle/>
                    <a:p>
                      <a:pPr algn="just">
                        <a:buNone/>
                      </a:pPr>
                      <a:r>
                        <a:rPr lang="en-US" sz="1400" b="1">
                          <a:latin typeface="Times New Roman" panose="02020603050405020304" pitchFamily="18" charset="0"/>
                          <a:cs typeface="Times New Roman" panose="02020603050405020304" pitchFamily="18" charset="0"/>
                        </a:rPr>
                        <a:t>Company Type</a:t>
                      </a:r>
                      <a:endParaRPr lang="en-US" sz="1400">
                        <a:latin typeface="Times New Roman" panose="02020603050405020304" pitchFamily="18" charset="0"/>
                        <a:cs typeface="Times New Roman" panose="02020603050405020304" pitchFamily="18" charset="0"/>
                      </a:endParaRPr>
                    </a:p>
                  </a:txBody>
                  <a:tcPr marL="56032" marR="56032" marT="28016" marB="28016" anchor="ctr"/>
                </a:tc>
                <a:tc>
                  <a:txBody>
                    <a:bodyPr/>
                    <a:lstStyle/>
                    <a:p>
                      <a:pPr algn="just">
                        <a:buNone/>
                      </a:pPr>
                      <a:r>
                        <a:rPr lang="en-US" sz="1400">
                          <a:latin typeface="Times New Roman" panose="02020603050405020304" pitchFamily="18" charset="0"/>
                          <a:cs typeface="Times New Roman" panose="02020603050405020304" pitchFamily="18" charset="0"/>
                        </a:rPr>
                        <a:t>Public Company</a:t>
                      </a:r>
                    </a:p>
                  </a:txBody>
                  <a:tcPr marL="56032" marR="56032" marT="28016" marB="28016" anchor="ctr"/>
                </a:tc>
                <a:extLst>
                  <a:ext uri="{0D108BD9-81ED-4DB2-BD59-A6C34878D82A}">
                    <a16:rowId xmlns:a16="http://schemas.microsoft.com/office/drawing/2014/main" val="2050895596"/>
                  </a:ext>
                </a:extLst>
              </a:tr>
              <a:tr h="392224">
                <a:tc>
                  <a:txBody>
                    <a:bodyPr/>
                    <a:lstStyle/>
                    <a:p>
                      <a:pPr algn="just">
                        <a:buNone/>
                      </a:pPr>
                      <a:r>
                        <a:rPr lang="en-US" sz="1400" b="1">
                          <a:latin typeface="Times New Roman" panose="02020603050405020304" pitchFamily="18" charset="0"/>
                          <a:cs typeface="Times New Roman" panose="02020603050405020304" pitchFamily="18" charset="0"/>
                        </a:rPr>
                        <a:t>Stock Exchange</a:t>
                      </a:r>
                      <a:endParaRPr lang="en-US" sz="1400">
                        <a:latin typeface="Times New Roman" panose="02020603050405020304" pitchFamily="18" charset="0"/>
                        <a:cs typeface="Times New Roman" panose="02020603050405020304" pitchFamily="18" charset="0"/>
                      </a:endParaRPr>
                    </a:p>
                  </a:txBody>
                  <a:tcPr marL="56032" marR="56032" marT="28016" marB="28016" anchor="ctr"/>
                </a:tc>
                <a:tc>
                  <a:txBody>
                    <a:bodyPr/>
                    <a:lstStyle/>
                    <a:p>
                      <a:pPr algn="just">
                        <a:buNone/>
                      </a:pPr>
                      <a:r>
                        <a:rPr lang="en-US" sz="1400">
                          <a:latin typeface="Times New Roman" panose="02020603050405020304" pitchFamily="18" charset="0"/>
                          <a:cs typeface="Times New Roman" panose="02020603050405020304" pitchFamily="18" charset="0"/>
                        </a:rPr>
                        <a:t>NASDAQ (Ticker: ZM)</a:t>
                      </a:r>
                    </a:p>
                  </a:txBody>
                  <a:tcPr marL="56032" marR="56032" marT="28016" marB="28016" anchor="ctr"/>
                </a:tc>
                <a:extLst>
                  <a:ext uri="{0D108BD9-81ED-4DB2-BD59-A6C34878D82A}">
                    <a16:rowId xmlns:a16="http://schemas.microsoft.com/office/drawing/2014/main" val="2184890408"/>
                  </a:ext>
                </a:extLst>
              </a:tr>
              <a:tr h="224128">
                <a:tc>
                  <a:txBody>
                    <a:bodyPr/>
                    <a:lstStyle/>
                    <a:p>
                      <a:pPr algn="just">
                        <a:buNone/>
                      </a:pPr>
                      <a:r>
                        <a:rPr lang="en-US" sz="1400" b="1">
                          <a:latin typeface="Times New Roman" panose="02020603050405020304" pitchFamily="18" charset="0"/>
                          <a:cs typeface="Times New Roman" panose="02020603050405020304" pitchFamily="18" charset="0"/>
                        </a:rPr>
                        <a:t>Official Website</a:t>
                      </a:r>
                      <a:endParaRPr lang="en-US" sz="1400">
                        <a:latin typeface="Times New Roman" panose="02020603050405020304" pitchFamily="18" charset="0"/>
                        <a:cs typeface="Times New Roman" panose="02020603050405020304" pitchFamily="18" charset="0"/>
                      </a:endParaRPr>
                    </a:p>
                  </a:txBody>
                  <a:tcPr marL="56032" marR="56032" marT="28016" marB="28016" anchor="ctr"/>
                </a:tc>
                <a:tc>
                  <a:txBody>
                    <a:bodyPr/>
                    <a:lstStyle/>
                    <a:p>
                      <a:pPr algn="just">
                        <a:buNone/>
                      </a:pPr>
                      <a:r>
                        <a:rPr lang="en-US" sz="1400">
                          <a:latin typeface="Times New Roman" panose="02020603050405020304" pitchFamily="18" charset="0"/>
                          <a:cs typeface="Times New Roman" panose="02020603050405020304" pitchFamily="18" charset="0"/>
                        </a:rPr>
                        <a:t>zoom.us</a:t>
                      </a:r>
                    </a:p>
                  </a:txBody>
                  <a:tcPr marL="56032" marR="56032" marT="28016" marB="28016" anchor="ctr"/>
                </a:tc>
                <a:extLst>
                  <a:ext uri="{0D108BD9-81ED-4DB2-BD59-A6C34878D82A}">
                    <a16:rowId xmlns:a16="http://schemas.microsoft.com/office/drawing/2014/main" val="482192891"/>
                  </a:ext>
                </a:extLst>
              </a:tr>
              <a:tr h="392224">
                <a:tc>
                  <a:txBody>
                    <a:bodyPr/>
                    <a:lstStyle/>
                    <a:p>
                      <a:pPr algn="just">
                        <a:buNone/>
                      </a:pPr>
                      <a:r>
                        <a:rPr lang="en-US" sz="1400" b="1">
                          <a:latin typeface="Times New Roman" panose="02020603050405020304" pitchFamily="18" charset="0"/>
                          <a:cs typeface="Times New Roman" panose="02020603050405020304" pitchFamily="18" charset="0"/>
                        </a:rPr>
                        <a:t>Employees</a:t>
                      </a:r>
                      <a:endParaRPr lang="en-US" sz="1400">
                        <a:latin typeface="Times New Roman" panose="02020603050405020304" pitchFamily="18" charset="0"/>
                        <a:cs typeface="Times New Roman" panose="02020603050405020304" pitchFamily="18" charset="0"/>
                      </a:endParaRPr>
                    </a:p>
                  </a:txBody>
                  <a:tcPr marL="56032" marR="56032" marT="28016" marB="28016" anchor="ctr"/>
                </a:tc>
                <a:tc>
                  <a:txBody>
                    <a:bodyPr/>
                    <a:lstStyle/>
                    <a:p>
                      <a:pPr algn="just">
                        <a:buNone/>
                      </a:pPr>
                      <a:r>
                        <a:rPr lang="en-US" sz="1400" dirty="0">
                          <a:latin typeface="Times New Roman" panose="02020603050405020304" pitchFamily="18" charset="0"/>
                          <a:cs typeface="Times New Roman" panose="02020603050405020304" pitchFamily="18" charset="0"/>
                        </a:rPr>
                        <a:t>Approximately 7,000+ worldwide</a:t>
                      </a:r>
                    </a:p>
                  </a:txBody>
                  <a:tcPr marL="56032" marR="56032" marT="28016" marB="28016" anchor="ctr"/>
                </a:tc>
                <a:extLst>
                  <a:ext uri="{0D108BD9-81ED-4DB2-BD59-A6C34878D82A}">
                    <a16:rowId xmlns:a16="http://schemas.microsoft.com/office/drawing/2014/main" val="264838869"/>
                  </a:ext>
                </a:extLst>
              </a:tr>
            </a:tbl>
          </a:graphicData>
        </a:graphic>
      </p:graphicFrame>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Company Background</a:t>
            </a:r>
          </a:p>
        </p:txBody>
      </p:sp>
      <p:sp>
        <p:nvSpPr>
          <p:cNvPr id="5" name="Content Placeholder 4"/>
          <p:cNvSpPr>
            <a:spLocks noGrp="1"/>
          </p:cNvSpPr>
          <p:nvPr>
            <p:ph sz="half" idx="4294967295"/>
          </p:nvPr>
        </p:nvSpPr>
        <p:spPr>
          <a:xfrm>
            <a:off x="541609" y="1431010"/>
            <a:ext cx="9329977" cy="4790886"/>
          </a:xfrm>
        </p:spPr>
        <p:txBody>
          <a:bodyPr vert="horz" lIns="91440" tIns="45720" rIns="91440" bIns="45720" rtlCol="0">
            <a:normAutofit/>
          </a:bodyPr>
          <a:lstStyle/>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Zoom was founded in 2011 by Eric Yuan, a former engineering executive at Cisco Systems</a:t>
            </a:r>
            <a:r>
              <a:rPr lang="en-US" sz="1800" dirty="0">
                <a:latin typeface="Times New Roman" panose="02020603050405020304" pitchFamily="18" charset="0"/>
                <a:cs typeface="Times New Roman" panose="02020603050405020304" pitchFamily="18" charset="0"/>
              </a:rPr>
              <a:t>. His vision was to create a simple, reliable, and high-quality video communication platform that would improve virtual collaboration. The company officially launched its video conferencing platform in 2013 and rapidly expanded due to its ease of use, scalability, and high-quality performance.</a:t>
            </a: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During the COVID-19 pandemic</a:t>
            </a:r>
            <a:r>
              <a:rPr lang="en-US" sz="1800" dirty="0">
                <a:latin typeface="Times New Roman" panose="02020603050405020304" pitchFamily="18" charset="0"/>
                <a:cs typeface="Times New Roman" panose="02020603050405020304" pitchFamily="18" charset="0"/>
              </a:rPr>
              <a:t>, Zoom became one of the world's most widely used </a:t>
            </a:r>
            <a:r>
              <a:rPr lang="en-US" sz="1800" b="1" dirty="0">
                <a:latin typeface="Times New Roman" panose="02020603050405020304" pitchFamily="18" charset="0"/>
                <a:cs typeface="Times New Roman" panose="02020603050405020304" pitchFamily="18" charset="0"/>
              </a:rPr>
              <a:t>communication platforms, supporting millions of daily users across education, healthcare, government, and businesse</a:t>
            </a:r>
            <a:r>
              <a:rPr lang="en-US" sz="1800" dirty="0">
                <a:latin typeface="Times New Roman" panose="02020603050405020304" pitchFamily="18" charset="0"/>
                <a:cs typeface="Times New Roman" panose="02020603050405020304" pitchFamily="18" charset="0"/>
              </a:rPr>
              <a:t>s. Since then, the company has continued to evolve by integrating artificial intelligence, cloud telephony, team chat, digital whiteboards, and customer experience solutions into its platform.</a:t>
            </a:r>
          </a:p>
          <a:p>
            <a:pPr marL="0" indent="0">
              <a:lnSpc>
                <a:spcPts val="1800"/>
              </a:lnSpc>
              <a:spcBef>
                <a:spcPts val="1000"/>
              </a:spcBef>
              <a:spcAft>
                <a:spcPts val="600"/>
              </a:spcAft>
              <a:buNone/>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Core Products and Services</a:t>
            </a:r>
          </a:p>
        </p:txBody>
      </p:sp>
      <p:sp>
        <p:nvSpPr>
          <p:cNvPr id="7" name="TextBox 6">
            <a:extLst>
              <a:ext uri="{FF2B5EF4-FFF2-40B4-BE49-F238E27FC236}">
                <a16:creationId xmlns:a16="http://schemas.microsoft.com/office/drawing/2014/main" id="{A97FA193-BC88-9C9D-95A2-8F64FD1210A6}"/>
              </a:ext>
            </a:extLst>
          </p:cNvPr>
          <p:cNvSpPr txBox="1"/>
          <p:nvPr/>
        </p:nvSpPr>
        <p:spPr>
          <a:xfrm>
            <a:off x="668592" y="1541257"/>
            <a:ext cx="9035847" cy="3693319"/>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Zoom offers a wide range of cloud-based communication services, including:</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Zoom Meetings </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Zoom Team Chat </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Zoom Phone </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Zoom Workplace </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Zoom Whiteboard </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Zoom Webinars </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Zoom Events </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Zoom Contact Center </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Zoom Rooms </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Zoom AI Companion </a:t>
            </a:r>
          </a:p>
          <a:p>
            <a:pPr>
              <a:buNone/>
            </a:pPr>
            <a:r>
              <a:rPr lang="en-US" dirty="0">
                <a:latin typeface="Times New Roman" panose="02020603050405020304" pitchFamily="18" charset="0"/>
                <a:cs typeface="Times New Roman" panose="02020603050405020304" pitchFamily="18" charset="0"/>
              </a:rPr>
              <a:t>These services enable seamless communication, collaboration, and productivity for organizations of all sizes.</a:t>
            </a:r>
          </a:p>
        </p:txBody>
      </p:sp>
    </p:spTree>
    <p:extLst>
      <p:ext uri="{BB962C8B-B14F-4D97-AF65-F5344CB8AC3E}">
        <p14:creationId xmlns:p14="http://schemas.microsoft.com/office/powerpoint/2010/main" val="259683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6DAEB-6813-631A-8372-FB4CA76F68A6}"/>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Website Investigation – Zoom Communications</a:t>
            </a:r>
          </a:p>
        </p:txBody>
      </p:sp>
      <p:sp>
        <p:nvSpPr>
          <p:cNvPr id="3" name="Content Placeholder 2">
            <a:extLst>
              <a:ext uri="{FF2B5EF4-FFF2-40B4-BE49-F238E27FC236}">
                <a16:creationId xmlns:a16="http://schemas.microsoft.com/office/drawing/2014/main" id="{C01463AC-BA8A-81E3-0740-F8A6AEF297F5}"/>
              </a:ext>
            </a:extLst>
          </p:cNvPr>
          <p:cNvSpPr>
            <a:spLocks noGrp="1"/>
          </p:cNvSpPr>
          <p:nvPr>
            <p:ph sz="quarter" idx="10"/>
          </p:nvPr>
        </p:nvSpPr>
        <p:spPr>
          <a:xfrm>
            <a:off x="539496" y="1435608"/>
            <a:ext cx="11259214" cy="4974336"/>
          </a:xfrm>
        </p:spPr>
        <p:txBody>
          <a:bodyPr>
            <a:normAutofit lnSpcReduction="10000"/>
          </a:bodyPr>
          <a:lstStyle/>
          <a:p>
            <a:r>
              <a:rPr lang="en-US" sz="2500" b="1" dirty="0">
                <a:latin typeface="Times New Roman" panose="02020603050405020304" pitchFamily="18" charset="0"/>
                <a:cs typeface="Times New Roman" panose="02020603050405020304" pitchFamily="18" charset="0"/>
              </a:rPr>
              <a:t>Official Website</a:t>
            </a:r>
          </a:p>
          <a:p>
            <a:r>
              <a:rPr lang="en-US" sz="2500" b="1" dirty="0">
                <a:latin typeface="Times New Roman" panose="02020603050405020304" pitchFamily="18" charset="0"/>
                <a:cs typeface="Times New Roman" panose="02020603050405020304" pitchFamily="18" charset="0"/>
              </a:rPr>
              <a:t>Website:</a:t>
            </a:r>
            <a:r>
              <a:rPr lang="en-US" sz="250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hlinkClick r:id="rId2"/>
              </a:rPr>
              <a:t>https://zoom.us</a:t>
            </a:r>
            <a:r>
              <a:rPr lang="en-US" sz="2500" dirty="0">
                <a:latin typeface="Times New Roman" panose="02020603050405020304" pitchFamily="18" charset="0"/>
                <a:cs typeface="Times New Roman" panose="02020603050405020304" pitchFamily="18" charset="0"/>
              </a:rPr>
              <a:t> </a:t>
            </a:r>
          </a:p>
          <a:p>
            <a:r>
              <a:rPr lang="en-US" sz="2500" b="1" dirty="0">
                <a:latin typeface="Times New Roman" panose="02020603050405020304" pitchFamily="18" charset="0"/>
                <a:cs typeface="Times New Roman" panose="02020603050405020304" pitchFamily="18" charset="0"/>
              </a:rPr>
              <a:t>Protocol:</a:t>
            </a:r>
            <a:r>
              <a:rPr lang="en-US" sz="2500" dirty="0">
                <a:latin typeface="Times New Roman" panose="02020603050405020304" pitchFamily="18" charset="0"/>
                <a:cs typeface="Times New Roman" panose="02020603050405020304" pitchFamily="18" charset="0"/>
              </a:rPr>
              <a:t> HTTPS </a:t>
            </a:r>
          </a:p>
          <a:p>
            <a:r>
              <a:rPr lang="en-US" sz="2500" b="1" dirty="0">
                <a:latin typeface="Times New Roman" panose="02020603050405020304" pitchFamily="18" charset="0"/>
                <a:cs typeface="Times New Roman" panose="02020603050405020304" pitchFamily="18" charset="0"/>
              </a:rPr>
              <a:t>Domain:</a:t>
            </a:r>
            <a:r>
              <a:rPr lang="en-US" sz="2500" dirty="0">
                <a:latin typeface="Times New Roman" panose="02020603050405020304" pitchFamily="18" charset="0"/>
                <a:cs typeface="Times New Roman" panose="02020603050405020304" pitchFamily="18" charset="0"/>
              </a:rPr>
              <a:t> zoom.us </a:t>
            </a:r>
          </a:p>
          <a:p>
            <a:r>
              <a:rPr lang="en-US" sz="2500" b="1" dirty="0">
                <a:latin typeface="Times New Roman" panose="02020603050405020304" pitchFamily="18" charset="0"/>
                <a:cs typeface="Times New Roman" panose="02020603050405020304" pitchFamily="18" charset="0"/>
              </a:rPr>
              <a:t>Website Type:</a:t>
            </a:r>
            <a:r>
              <a:rPr lang="en-US" sz="2500" dirty="0">
                <a:latin typeface="Times New Roman" panose="02020603050405020304" pitchFamily="18" charset="0"/>
                <a:cs typeface="Times New Roman" panose="02020603050405020304" pitchFamily="18" charset="0"/>
              </a:rPr>
              <a:t> Corporate and Cloud Communication Platform </a:t>
            </a:r>
          </a:p>
          <a:p>
            <a:r>
              <a:rPr lang="en-US" sz="2500" b="1" dirty="0">
                <a:latin typeface="Times New Roman" panose="02020603050405020304" pitchFamily="18" charset="0"/>
                <a:cs typeface="Times New Roman" panose="02020603050405020304" pitchFamily="18" charset="0"/>
              </a:rPr>
              <a:t>Accessibility:</a:t>
            </a:r>
            <a:r>
              <a:rPr lang="en-US" sz="2500" dirty="0">
                <a:latin typeface="Times New Roman" panose="02020603050405020304" pitchFamily="18" charset="0"/>
                <a:cs typeface="Times New Roman" panose="02020603050405020304" pitchFamily="18" charset="0"/>
              </a:rPr>
              <a:t> Publicly accessible worldwide</a:t>
            </a:r>
          </a:p>
          <a:p>
            <a:endParaRPr lang="en-US" dirty="0"/>
          </a:p>
        </p:txBody>
      </p:sp>
    </p:spTree>
    <p:extLst>
      <p:ext uri="{BB962C8B-B14F-4D97-AF65-F5344CB8AC3E}">
        <p14:creationId xmlns:p14="http://schemas.microsoft.com/office/powerpoint/2010/main" val="109461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DB808-5150-39E6-733E-DD4B68EC5579}"/>
              </a:ext>
            </a:extLst>
          </p:cNvPr>
          <p:cNvSpPr>
            <a:spLocks noGrp="1"/>
          </p:cNvSpPr>
          <p:nvPr>
            <p:ph type="title"/>
          </p:nvPr>
        </p:nvSpPr>
        <p:spPr>
          <a:xfrm>
            <a:off x="622807" y="795527"/>
            <a:ext cx="6877119" cy="640080"/>
          </a:xfrm>
        </p:spPr>
        <p:txBody>
          <a:bodyPr>
            <a:normAutofit fontScale="90000"/>
          </a:bodyPr>
          <a:lstStyle/>
          <a:p>
            <a:r>
              <a:rPr lang="en-US" b="1" dirty="0">
                <a:latin typeface="Times New Roman" panose="02020603050405020304" pitchFamily="18" charset="0"/>
                <a:cs typeface="Times New Roman" panose="02020603050405020304" pitchFamily="18" charset="0"/>
              </a:rPr>
              <a:t>products and Services Available</a:t>
            </a:r>
            <a:br>
              <a:rPr lang="en-US" b="1"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7A560EF-855E-D418-0762-4CDE8E37A7FC}"/>
              </a:ext>
            </a:extLst>
          </p:cNvPr>
          <p:cNvSpPr>
            <a:spLocks noGrp="1"/>
          </p:cNvSpPr>
          <p:nvPr>
            <p:ph sz="quarter" idx="10"/>
          </p:nvPr>
        </p:nvSpPr>
        <p:spPr>
          <a:xfrm>
            <a:off x="521207" y="1435607"/>
            <a:ext cx="9507695" cy="4974337"/>
          </a:xfrm>
        </p:spPr>
        <p:txBody>
          <a:bodyPr>
            <a:normAutofit/>
          </a:bodyPr>
          <a:lstStyle/>
          <a:p>
            <a:r>
              <a:rPr lang="en-US" sz="1800" dirty="0">
                <a:latin typeface="Times New Roman" panose="02020603050405020304" pitchFamily="18" charset="0"/>
                <a:cs typeface="Times New Roman" panose="02020603050405020304" pitchFamily="18" charset="0"/>
              </a:rPr>
              <a:t>The website provides information on several communication and collaboration products, including:</a:t>
            </a:r>
          </a:p>
          <a:p>
            <a:r>
              <a:rPr lang="en-US" sz="1800" dirty="0">
                <a:latin typeface="Times New Roman" panose="02020603050405020304" pitchFamily="18" charset="0"/>
                <a:cs typeface="Times New Roman" panose="02020603050405020304" pitchFamily="18" charset="0"/>
              </a:rPr>
              <a:t>Zoom Workplace </a:t>
            </a:r>
          </a:p>
          <a:p>
            <a:r>
              <a:rPr lang="en-US" sz="1800" dirty="0">
                <a:latin typeface="Times New Roman" panose="02020603050405020304" pitchFamily="18" charset="0"/>
                <a:cs typeface="Times New Roman" panose="02020603050405020304" pitchFamily="18" charset="0"/>
              </a:rPr>
              <a:t>Zoom Meetings </a:t>
            </a:r>
          </a:p>
          <a:p>
            <a:r>
              <a:rPr lang="en-US" sz="1800" dirty="0">
                <a:latin typeface="Times New Roman" panose="02020603050405020304" pitchFamily="18" charset="0"/>
                <a:cs typeface="Times New Roman" panose="02020603050405020304" pitchFamily="18" charset="0"/>
              </a:rPr>
              <a:t>Zoom Team Chat </a:t>
            </a:r>
          </a:p>
          <a:p>
            <a:r>
              <a:rPr lang="en-US" sz="1800" dirty="0">
                <a:latin typeface="Times New Roman" panose="02020603050405020304" pitchFamily="18" charset="0"/>
                <a:cs typeface="Times New Roman" panose="02020603050405020304" pitchFamily="18" charset="0"/>
              </a:rPr>
              <a:t>Zoom Phone </a:t>
            </a:r>
          </a:p>
          <a:p>
            <a:endParaRPr lang="en-US" dirty="0"/>
          </a:p>
        </p:txBody>
      </p:sp>
    </p:spTree>
    <p:extLst>
      <p:ext uri="{BB962C8B-B14F-4D97-AF65-F5344CB8AC3E}">
        <p14:creationId xmlns:p14="http://schemas.microsoft.com/office/powerpoint/2010/main" val="402236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3C915-029B-13EF-DC5F-11F3E993B3DD}"/>
              </a:ext>
            </a:extLst>
          </p:cNvPr>
          <p:cNvSpPr>
            <a:spLocks noGrp="1"/>
          </p:cNvSpPr>
          <p:nvPr>
            <p:ph type="title"/>
          </p:nvPr>
        </p:nvSpPr>
        <p:spPr>
          <a:xfrm>
            <a:off x="521207" y="448056"/>
            <a:ext cx="6877119" cy="987552"/>
          </a:xfrm>
        </p:spPr>
        <p:txBody>
          <a:bodyPr>
            <a:normAutofit fontScale="90000"/>
          </a:bodyPr>
          <a:lstStyle/>
          <a:p>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products and Services Available</a:t>
            </a:r>
            <a:br>
              <a:rPr lang="en-US" b="1"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D9D25C71-ADC2-6CB8-8074-62C065B9DF1B}"/>
              </a:ext>
            </a:extLst>
          </p:cNvPr>
          <p:cNvSpPr>
            <a:spLocks noGrp="1"/>
          </p:cNvSpPr>
          <p:nvPr>
            <p:ph sz="quarter" idx="10"/>
          </p:nvPr>
        </p:nvSpPr>
        <p:spPr>
          <a:xfrm>
            <a:off x="539495" y="1435608"/>
            <a:ext cx="10089176" cy="4512908"/>
          </a:xfrm>
        </p:spPr>
        <p:txBody>
          <a:bodyPr>
            <a:noAutofit/>
          </a:bodyPr>
          <a:lstStyle/>
          <a:p>
            <a:r>
              <a:rPr lang="en-US" sz="1800" dirty="0">
                <a:latin typeface="Times New Roman" panose="02020603050405020304" pitchFamily="18" charset="0"/>
                <a:cs typeface="Times New Roman" panose="02020603050405020304" pitchFamily="18" charset="0"/>
              </a:rPr>
              <a:t>Zoom Contact Center </a:t>
            </a:r>
          </a:p>
          <a:p>
            <a:r>
              <a:rPr lang="en-US" sz="1800" dirty="0">
                <a:latin typeface="Times New Roman" panose="02020603050405020304" pitchFamily="18" charset="0"/>
                <a:cs typeface="Times New Roman" panose="02020603050405020304" pitchFamily="18" charset="0"/>
              </a:rPr>
              <a:t>Zoom Webinars </a:t>
            </a:r>
          </a:p>
          <a:p>
            <a:r>
              <a:rPr lang="en-US" sz="1800" dirty="0">
                <a:latin typeface="Times New Roman" panose="02020603050405020304" pitchFamily="18" charset="0"/>
                <a:cs typeface="Times New Roman" panose="02020603050405020304" pitchFamily="18" charset="0"/>
              </a:rPr>
              <a:t>Zoom Events </a:t>
            </a:r>
          </a:p>
          <a:p>
            <a:r>
              <a:rPr lang="en-US" sz="1800" dirty="0">
                <a:latin typeface="Times New Roman" panose="02020603050405020304" pitchFamily="18" charset="0"/>
                <a:cs typeface="Times New Roman" panose="02020603050405020304" pitchFamily="18" charset="0"/>
              </a:rPr>
              <a:t>Zoom Rooms </a:t>
            </a:r>
          </a:p>
          <a:p>
            <a:r>
              <a:rPr lang="en-US" sz="1800" dirty="0">
                <a:latin typeface="Times New Roman" panose="02020603050405020304" pitchFamily="18" charset="0"/>
                <a:cs typeface="Times New Roman" panose="02020603050405020304" pitchFamily="18" charset="0"/>
              </a:rPr>
              <a:t>Zoom Whiteboard </a:t>
            </a:r>
          </a:p>
          <a:p>
            <a:r>
              <a:rPr lang="en-US" sz="1800" dirty="0">
                <a:latin typeface="Times New Roman" panose="02020603050405020304" pitchFamily="18" charset="0"/>
                <a:cs typeface="Times New Roman" panose="02020603050405020304" pitchFamily="18" charset="0"/>
              </a:rPr>
              <a:t>Zoom AI Companion </a:t>
            </a:r>
          </a:p>
          <a:p>
            <a:r>
              <a:rPr lang="en-US" sz="1800" dirty="0">
                <a:latin typeface="Times New Roman" panose="02020603050405020304" pitchFamily="18" charset="0"/>
                <a:cs typeface="Times New Roman" panose="02020603050405020304" pitchFamily="18" charset="0"/>
              </a:rPr>
              <a:t>Each product page includes detailed descriptions, features, pricing information, and customer use cases</a:t>
            </a:r>
            <a:endParaRPr lang="en-US" sz="1800" dirty="0"/>
          </a:p>
        </p:txBody>
      </p:sp>
    </p:spTree>
    <p:extLst>
      <p:ext uri="{BB962C8B-B14F-4D97-AF65-F5344CB8AC3E}">
        <p14:creationId xmlns:p14="http://schemas.microsoft.com/office/powerpoint/2010/main" val="3744187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B9905-4609-EEA8-5A9C-DBE3ADF7B0E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OSINT Findings</a:t>
            </a:r>
          </a:p>
        </p:txBody>
      </p:sp>
      <p:graphicFrame>
        <p:nvGraphicFramePr>
          <p:cNvPr id="4" name="Content Placeholder 3">
            <a:extLst>
              <a:ext uri="{FF2B5EF4-FFF2-40B4-BE49-F238E27FC236}">
                <a16:creationId xmlns:a16="http://schemas.microsoft.com/office/drawing/2014/main" id="{41D35864-FB5D-2058-B8EA-1C80CC363C00}"/>
              </a:ext>
            </a:extLst>
          </p:cNvPr>
          <p:cNvGraphicFramePr>
            <a:graphicFrameLocks noGrp="1"/>
          </p:cNvGraphicFramePr>
          <p:nvPr>
            <p:ph sz="quarter" idx="10"/>
            <p:extLst>
              <p:ext uri="{D42A27DB-BD31-4B8C-83A1-F6EECF244321}">
                <p14:modId xmlns:p14="http://schemas.microsoft.com/office/powerpoint/2010/main" val="2481087902"/>
              </p:ext>
            </p:extLst>
          </p:nvPr>
        </p:nvGraphicFramePr>
        <p:xfrm>
          <a:off x="2129659" y="1489198"/>
          <a:ext cx="5692886" cy="4223776"/>
        </p:xfrm>
        <a:graphic>
          <a:graphicData uri="http://schemas.openxmlformats.org/drawingml/2006/table">
            <a:tbl>
              <a:tblPr>
                <a:tableStyleId>{22838BEF-8BB2-4498-84A7-C5851F593DF1}</a:tableStyleId>
              </a:tblPr>
              <a:tblGrid>
                <a:gridCol w="2846443">
                  <a:extLst>
                    <a:ext uri="{9D8B030D-6E8A-4147-A177-3AD203B41FA5}">
                      <a16:colId xmlns:a16="http://schemas.microsoft.com/office/drawing/2014/main" val="1643846729"/>
                    </a:ext>
                  </a:extLst>
                </a:gridCol>
                <a:gridCol w="2846443">
                  <a:extLst>
                    <a:ext uri="{9D8B030D-6E8A-4147-A177-3AD203B41FA5}">
                      <a16:colId xmlns:a16="http://schemas.microsoft.com/office/drawing/2014/main" val="3356141758"/>
                    </a:ext>
                  </a:extLst>
                </a:gridCol>
              </a:tblGrid>
              <a:tr h="284162">
                <a:tc>
                  <a:txBody>
                    <a:bodyPr/>
                    <a:lstStyle/>
                    <a:p>
                      <a:pPr algn="just">
                        <a:buNone/>
                      </a:pPr>
                      <a:r>
                        <a:rPr lang="en-US" sz="1800" b="1">
                          <a:latin typeface="Times New Roman" panose="02020603050405020304" pitchFamily="18" charset="0"/>
                          <a:cs typeface="Times New Roman" panose="02020603050405020304" pitchFamily="18" charset="0"/>
                        </a:rPr>
                        <a:t>Investigation Area</a:t>
                      </a:r>
                    </a:p>
                  </a:txBody>
                  <a:tcPr marL="71041" marR="71041" marT="35520" marB="35520" anchor="ctr"/>
                </a:tc>
                <a:tc>
                  <a:txBody>
                    <a:bodyPr/>
                    <a:lstStyle/>
                    <a:p>
                      <a:pPr algn="just">
                        <a:buNone/>
                      </a:pPr>
                      <a:r>
                        <a:rPr lang="en-US" sz="1800" b="1" dirty="0">
                          <a:latin typeface="Times New Roman" panose="02020603050405020304" pitchFamily="18" charset="0"/>
                          <a:cs typeface="Times New Roman" panose="02020603050405020304" pitchFamily="18" charset="0"/>
                        </a:rPr>
                        <a:t>Observation</a:t>
                      </a:r>
                    </a:p>
                  </a:txBody>
                  <a:tcPr marL="71041" marR="71041" marT="35520" marB="35520" anchor="ctr"/>
                </a:tc>
                <a:extLst>
                  <a:ext uri="{0D108BD9-81ED-4DB2-BD59-A6C34878D82A}">
                    <a16:rowId xmlns:a16="http://schemas.microsoft.com/office/drawing/2014/main" val="2028214356"/>
                  </a:ext>
                </a:extLst>
              </a:tr>
              <a:tr h="284162">
                <a:tc>
                  <a:txBody>
                    <a:bodyPr/>
                    <a:lstStyle/>
                    <a:p>
                      <a:pPr algn="just">
                        <a:buNone/>
                      </a:pPr>
                      <a:r>
                        <a:rPr lang="en-US" sz="1600">
                          <a:latin typeface="Times New Roman" panose="02020603050405020304" pitchFamily="18" charset="0"/>
                          <a:cs typeface="Times New Roman" panose="02020603050405020304" pitchFamily="18" charset="0"/>
                        </a:rPr>
                        <a:t>Official Domain</a:t>
                      </a:r>
                    </a:p>
                  </a:txBody>
                  <a:tcPr marL="71041" marR="71041" marT="35520" marB="35520" anchor="ctr"/>
                </a:tc>
                <a:tc>
                  <a:txBody>
                    <a:bodyPr/>
                    <a:lstStyle/>
                    <a:p>
                      <a:pPr algn="just">
                        <a:buNone/>
                      </a:pPr>
                      <a:r>
                        <a:rPr lang="en-US" sz="1600">
                          <a:latin typeface="Times New Roman" panose="02020603050405020304" pitchFamily="18" charset="0"/>
                          <a:cs typeface="Times New Roman" panose="02020603050405020304" pitchFamily="18" charset="0"/>
                        </a:rPr>
                        <a:t>zoom.us</a:t>
                      </a:r>
                    </a:p>
                  </a:txBody>
                  <a:tcPr marL="71041" marR="71041" marT="35520" marB="35520" anchor="ctr"/>
                </a:tc>
                <a:extLst>
                  <a:ext uri="{0D108BD9-81ED-4DB2-BD59-A6C34878D82A}">
                    <a16:rowId xmlns:a16="http://schemas.microsoft.com/office/drawing/2014/main" val="3062108589"/>
                  </a:ext>
                </a:extLst>
              </a:tr>
              <a:tr h="284162">
                <a:tc>
                  <a:txBody>
                    <a:bodyPr/>
                    <a:lstStyle/>
                    <a:p>
                      <a:pPr algn="just">
                        <a:buNone/>
                      </a:pPr>
                      <a:r>
                        <a:rPr lang="en-US" sz="1600">
                          <a:latin typeface="Times New Roman" panose="02020603050405020304" pitchFamily="18" charset="0"/>
                          <a:cs typeface="Times New Roman" panose="02020603050405020304" pitchFamily="18" charset="0"/>
                        </a:rPr>
                        <a:t>HTTPS</a:t>
                      </a:r>
                    </a:p>
                  </a:txBody>
                  <a:tcPr marL="71041" marR="71041" marT="35520" marB="35520" anchor="ctr"/>
                </a:tc>
                <a:tc>
                  <a:txBody>
                    <a:bodyPr/>
                    <a:lstStyle/>
                    <a:p>
                      <a:pPr algn="just">
                        <a:buNone/>
                      </a:pPr>
                      <a:r>
                        <a:rPr lang="en-US" sz="1600">
                          <a:latin typeface="Times New Roman" panose="02020603050405020304" pitchFamily="18" charset="0"/>
                          <a:cs typeface="Times New Roman" panose="02020603050405020304" pitchFamily="18" charset="0"/>
                        </a:rPr>
                        <a:t>Enabled</a:t>
                      </a:r>
                    </a:p>
                  </a:txBody>
                  <a:tcPr marL="71041" marR="71041" marT="35520" marB="35520" anchor="ctr"/>
                </a:tc>
                <a:extLst>
                  <a:ext uri="{0D108BD9-81ED-4DB2-BD59-A6C34878D82A}">
                    <a16:rowId xmlns:a16="http://schemas.microsoft.com/office/drawing/2014/main" val="1617773132"/>
                  </a:ext>
                </a:extLst>
              </a:tr>
              <a:tr h="284162">
                <a:tc>
                  <a:txBody>
                    <a:bodyPr/>
                    <a:lstStyle/>
                    <a:p>
                      <a:pPr algn="just">
                        <a:buNone/>
                      </a:pPr>
                      <a:r>
                        <a:rPr lang="en-US" sz="1600" dirty="0">
                          <a:latin typeface="Times New Roman" panose="02020603050405020304" pitchFamily="18" charset="0"/>
                          <a:cs typeface="Times New Roman" panose="02020603050405020304" pitchFamily="18" charset="0"/>
                        </a:rPr>
                        <a:t>SSL Certificate</a:t>
                      </a:r>
                    </a:p>
                  </a:txBody>
                  <a:tcPr marL="71041" marR="71041" marT="35520" marB="35520" anchor="ctr"/>
                </a:tc>
                <a:tc>
                  <a:txBody>
                    <a:bodyPr/>
                    <a:lstStyle/>
                    <a:p>
                      <a:pPr algn="just">
                        <a:buNone/>
                      </a:pPr>
                      <a:r>
                        <a:rPr lang="en-US" sz="1600">
                          <a:latin typeface="Times New Roman" panose="02020603050405020304" pitchFamily="18" charset="0"/>
                          <a:cs typeface="Times New Roman" panose="02020603050405020304" pitchFamily="18" charset="0"/>
                        </a:rPr>
                        <a:t>Present</a:t>
                      </a:r>
                    </a:p>
                  </a:txBody>
                  <a:tcPr marL="71041" marR="71041" marT="35520" marB="35520" anchor="ctr"/>
                </a:tc>
                <a:extLst>
                  <a:ext uri="{0D108BD9-81ED-4DB2-BD59-A6C34878D82A}">
                    <a16:rowId xmlns:a16="http://schemas.microsoft.com/office/drawing/2014/main" val="3713018784"/>
                  </a:ext>
                </a:extLst>
              </a:tr>
              <a:tr h="497284">
                <a:tc>
                  <a:txBody>
                    <a:bodyPr/>
                    <a:lstStyle/>
                    <a:p>
                      <a:pPr algn="just">
                        <a:buNone/>
                      </a:pPr>
                      <a:r>
                        <a:rPr lang="en-US" sz="1600" dirty="0">
                          <a:latin typeface="Times New Roman" panose="02020603050405020304" pitchFamily="18" charset="0"/>
                          <a:cs typeface="Times New Roman" panose="02020603050405020304" pitchFamily="18" charset="0"/>
                        </a:rPr>
                        <a:t>Website Accessibility</a:t>
                      </a:r>
                    </a:p>
                  </a:txBody>
                  <a:tcPr marL="71041" marR="71041" marT="35520" marB="35520" anchor="ctr"/>
                </a:tc>
                <a:tc>
                  <a:txBody>
                    <a:bodyPr/>
                    <a:lstStyle/>
                    <a:p>
                      <a:pPr algn="just">
                        <a:buNone/>
                      </a:pPr>
                      <a:r>
                        <a:rPr lang="en-US" sz="1600">
                          <a:latin typeface="Times New Roman" panose="02020603050405020304" pitchFamily="18" charset="0"/>
                          <a:cs typeface="Times New Roman" panose="02020603050405020304" pitchFamily="18" charset="0"/>
                        </a:rPr>
                        <a:t>Public</a:t>
                      </a:r>
                    </a:p>
                  </a:txBody>
                  <a:tcPr marL="71041" marR="71041" marT="35520" marB="35520" anchor="ctr"/>
                </a:tc>
                <a:extLst>
                  <a:ext uri="{0D108BD9-81ED-4DB2-BD59-A6C34878D82A}">
                    <a16:rowId xmlns:a16="http://schemas.microsoft.com/office/drawing/2014/main" val="2647827072"/>
                  </a:ext>
                </a:extLst>
              </a:tr>
              <a:tr h="497284">
                <a:tc>
                  <a:txBody>
                    <a:bodyPr/>
                    <a:lstStyle/>
                    <a:p>
                      <a:pPr algn="just">
                        <a:buNone/>
                      </a:pPr>
                      <a:r>
                        <a:rPr lang="en-US" sz="1600">
                          <a:latin typeface="Times New Roman" panose="02020603050405020304" pitchFamily="18" charset="0"/>
                          <a:cs typeface="Times New Roman" panose="02020603050405020304" pitchFamily="18" charset="0"/>
                        </a:rPr>
                        <a:t>Product Information</a:t>
                      </a:r>
                    </a:p>
                  </a:txBody>
                  <a:tcPr marL="71041" marR="71041" marT="35520" marB="35520" anchor="ctr"/>
                </a:tc>
                <a:tc>
                  <a:txBody>
                    <a:bodyPr/>
                    <a:lstStyle/>
                    <a:p>
                      <a:pPr algn="just">
                        <a:buNone/>
                      </a:pPr>
                      <a:r>
                        <a:rPr lang="en-US" sz="1600">
                          <a:latin typeface="Times New Roman" panose="02020603050405020304" pitchFamily="18" charset="0"/>
                          <a:cs typeface="Times New Roman" panose="02020603050405020304" pitchFamily="18" charset="0"/>
                        </a:rPr>
                        <a:t>Available</a:t>
                      </a:r>
                    </a:p>
                  </a:txBody>
                  <a:tcPr marL="71041" marR="71041" marT="35520" marB="35520" anchor="ctr"/>
                </a:tc>
                <a:extLst>
                  <a:ext uri="{0D108BD9-81ED-4DB2-BD59-A6C34878D82A}">
                    <a16:rowId xmlns:a16="http://schemas.microsoft.com/office/drawing/2014/main" val="3511663745"/>
                  </a:ext>
                </a:extLst>
              </a:tr>
              <a:tr h="284162">
                <a:tc>
                  <a:txBody>
                    <a:bodyPr/>
                    <a:lstStyle/>
                    <a:p>
                      <a:pPr algn="just">
                        <a:buNone/>
                      </a:pPr>
                      <a:r>
                        <a:rPr lang="en-US" sz="1600">
                          <a:latin typeface="Times New Roman" panose="02020603050405020304" pitchFamily="18" charset="0"/>
                          <a:cs typeface="Times New Roman" panose="02020603050405020304" pitchFamily="18" charset="0"/>
                        </a:rPr>
                        <a:t>Support Center</a:t>
                      </a:r>
                    </a:p>
                  </a:txBody>
                  <a:tcPr marL="71041" marR="71041" marT="35520" marB="35520" anchor="ctr"/>
                </a:tc>
                <a:tc>
                  <a:txBody>
                    <a:bodyPr/>
                    <a:lstStyle/>
                    <a:p>
                      <a:pPr algn="just">
                        <a:buNone/>
                      </a:pPr>
                      <a:r>
                        <a:rPr lang="en-US" sz="1600">
                          <a:latin typeface="Times New Roman" panose="02020603050405020304" pitchFamily="18" charset="0"/>
                          <a:cs typeface="Times New Roman" panose="02020603050405020304" pitchFamily="18" charset="0"/>
                        </a:rPr>
                        <a:t>Available</a:t>
                      </a:r>
                    </a:p>
                  </a:txBody>
                  <a:tcPr marL="71041" marR="71041" marT="35520" marB="35520" anchor="ctr"/>
                </a:tc>
                <a:extLst>
                  <a:ext uri="{0D108BD9-81ED-4DB2-BD59-A6C34878D82A}">
                    <a16:rowId xmlns:a16="http://schemas.microsoft.com/office/drawing/2014/main" val="59226699"/>
                  </a:ext>
                </a:extLst>
              </a:tr>
              <a:tr h="497284">
                <a:tc>
                  <a:txBody>
                    <a:bodyPr/>
                    <a:lstStyle/>
                    <a:p>
                      <a:pPr algn="just">
                        <a:buNone/>
                      </a:pPr>
                      <a:r>
                        <a:rPr lang="en-US" sz="1600">
                          <a:latin typeface="Times New Roman" panose="02020603050405020304" pitchFamily="18" charset="0"/>
                          <a:cs typeface="Times New Roman" panose="02020603050405020304" pitchFamily="18" charset="0"/>
                        </a:rPr>
                        <a:t>Developer Resources</a:t>
                      </a:r>
                    </a:p>
                  </a:txBody>
                  <a:tcPr marL="71041" marR="71041" marT="35520" marB="35520" anchor="ctr"/>
                </a:tc>
                <a:tc>
                  <a:txBody>
                    <a:bodyPr/>
                    <a:lstStyle/>
                    <a:p>
                      <a:pPr algn="just">
                        <a:buNone/>
                      </a:pPr>
                      <a:r>
                        <a:rPr lang="en-US" sz="1600">
                          <a:latin typeface="Times New Roman" panose="02020603050405020304" pitchFamily="18" charset="0"/>
                          <a:cs typeface="Times New Roman" panose="02020603050405020304" pitchFamily="18" charset="0"/>
                        </a:rPr>
                        <a:t>Available</a:t>
                      </a:r>
                    </a:p>
                  </a:txBody>
                  <a:tcPr marL="71041" marR="71041" marT="35520" marB="35520" anchor="ctr"/>
                </a:tc>
                <a:extLst>
                  <a:ext uri="{0D108BD9-81ED-4DB2-BD59-A6C34878D82A}">
                    <a16:rowId xmlns:a16="http://schemas.microsoft.com/office/drawing/2014/main" val="2215557419"/>
                  </a:ext>
                </a:extLst>
              </a:tr>
              <a:tr h="284162">
                <a:tc>
                  <a:txBody>
                    <a:bodyPr/>
                    <a:lstStyle/>
                    <a:p>
                      <a:pPr algn="just">
                        <a:buNone/>
                      </a:pPr>
                      <a:r>
                        <a:rPr lang="en-US" sz="1600">
                          <a:latin typeface="Times New Roman" panose="02020603050405020304" pitchFamily="18" charset="0"/>
                          <a:cs typeface="Times New Roman" panose="02020603050405020304" pitchFamily="18" charset="0"/>
                        </a:rPr>
                        <a:t>Privacy Policy</a:t>
                      </a:r>
                    </a:p>
                  </a:txBody>
                  <a:tcPr marL="71041" marR="71041" marT="35520" marB="35520" anchor="ctr"/>
                </a:tc>
                <a:tc>
                  <a:txBody>
                    <a:bodyPr/>
                    <a:lstStyle/>
                    <a:p>
                      <a:pPr algn="just">
                        <a:buNone/>
                      </a:pPr>
                      <a:r>
                        <a:rPr lang="en-US" sz="1600">
                          <a:latin typeface="Times New Roman" panose="02020603050405020304" pitchFamily="18" charset="0"/>
                          <a:cs typeface="Times New Roman" panose="02020603050405020304" pitchFamily="18" charset="0"/>
                        </a:rPr>
                        <a:t>Available</a:t>
                      </a:r>
                    </a:p>
                  </a:txBody>
                  <a:tcPr marL="71041" marR="71041" marT="35520" marB="35520" anchor="ctr"/>
                </a:tc>
                <a:extLst>
                  <a:ext uri="{0D108BD9-81ED-4DB2-BD59-A6C34878D82A}">
                    <a16:rowId xmlns:a16="http://schemas.microsoft.com/office/drawing/2014/main" val="1116114939"/>
                  </a:ext>
                </a:extLst>
              </a:tr>
              <a:tr h="497284">
                <a:tc>
                  <a:txBody>
                    <a:bodyPr/>
                    <a:lstStyle/>
                    <a:p>
                      <a:pPr algn="just">
                        <a:buNone/>
                      </a:pPr>
                      <a:r>
                        <a:rPr lang="en-US" sz="1600">
                          <a:latin typeface="Times New Roman" panose="02020603050405020304" pitchFamily="18" charset="0"/>
                          <a:cs typeface="Times New Roman" panose="02020603050405020304" pitchFamily="18" charset="0"/>
                        </a:rPr>
                        <a:t>Security Information</a:t>
                      </a:r>
                    </a:p>
                  </a:txBody>
                  <a:tcPr marL="71041" marR="71041" marT="35520" marB="35520" anchor="ctr"/>
                </a:tc>
                <a:tc>
                  <a:txBody>
                    <a:bodyPr/>
                    <a:lstStyle/>
                    <a:p>
                      <a:pPr algn="just">
                        <a:buNone/>
                      </a:pPr>
                      <a:r>
                        <a:rPr lang="en-US" sz="1600">
                          <a:latin typeface="Times New Roman" panose="02020603050405020304" pitchFamily="18" charset="0"/>
                          <a:cs typeface="Times New Roman" panose="02020603050405020304" pitchFamily="18" charset="0"/>
                        </a:rPr>
                        <a:t>Available</a:t>
                      </a:r>
                    </a:p>
                  </a:txBody>
                  <a:tcPr marL="71041" marR="71041" marT="35520" marB="35520" anchor="ctr"/>
                </a:tc>
                <a:extLst>
                  <a:ext uri="{0D108BD9-81ED-4DB2-BD59-A6C34878D82A}">
                    <a16:rowId xmlns:a16="http://schemas.microsoft.com/office/drawing/2014/main" val="1059009948"/>
                  </a:ext>
                </a:extLst>
              </a:tr>
              <a:tr h="284162">
                <a:tc>
                  <a:txBody>
                    <a:bodyPr/>
                    <a:lstStyle/>
                    <a:p>
                      <a:pPr algn="just">
                        <a:buNone/>
                      </a:pPr>
                      <a:r>
                        <a:rPr lang="en-US" sz="1600">
                          <a:latin typeface="Times New Roman" panose="02020603050405020304" pitchFamily="18" charset="0"/>
                          <a:cs typeface="Times New Roman" panose="02020603050405020304" pitchFamily="18" charset="0"/>
                        </a:rPr>
                        <a:t>Contact Information</a:t>
                      </a:r>
                    </a:p>
                  </a:txBody>
                  <a:tcPr marL="71041" marR="71041" marT="35520" marB="35520" anchor="ctr"/>
                </a:tc>
                <a:tc>
                  <a:txBody>
                    <a:bodyPr/>
                    <a:lstStyle/>
                    <a:p>
                      <a:pPr algn="just">
                        <a:buNone/>
                      </a:pPr>
                      <a:r>
                        <a:rPr lang="en-US" sz="1600" dirty="0">
                          <a:latin typeface="Times New Roman" panose="02020603050405020304" pitchFamily="18" charset="0"/>
                          <a:cs typeface="Times New Roman" panose="02020603050405020304" pitchFamily="18" charset="0"/>
                        </a:rPr>
                        <a:t>Publicly Available</a:t>
                      </a:r>
                    </a:p>
                  </a:txBody>
                  <a:tcPr marL="71041" marR="71041" marT="35520" marB="35520" anchor="ctr"/>
                </a:tc>
                <a:extLst>
                  <a:ext uri="{0D108BD9-81ED-4DB2-BD59-A6C34878D82A}">
                    <a16:rowId xmlns:a16="http://schemas.microsoft.com/office/drawing/2014/main" val="3971517265"/>
                  </a:ext>
                </a:extLst>
              </a:tr>
            </a:tbl>
          </a:graphicData>
        </a:graphic>
      </p:graphicFrame>
    </p:spTree>
    <p:extLst>
      <p:ext uri="{BB962C8B-B14F-4D97-AF65-F5344CB8AC3E}">
        <p14:creationId xmlns:p14="http://schemas.microsoft.com/office/powerpoint/2010/main" val="539710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68555-0159-EC8F-787F-1B1CE30517C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Google Dorks Used</a:t>
            </a:r>
          </a:p>
        </p:txBody>
      </p:sp>
      <p:graphicFrame>
        <p:nvGraphicFramePr>
          <p:cNvPr id="8" name="Content Placeholder 7">
            <a:extLst>
              <a:ext uri="{FF2B5EF4-FFF2-40B4-BE49-F238E27FC236}">
                <a16:creationId xmlns:a16="http://schemas.microsoft.com/office/drawing/2014/main" id="{0FCDCE1A-45D9-D40A-3D8D-BAE5EEBFB7FB}"/>
              </a:ext>
            </a:extLst>
          </p:cNvPr>
          <p:cNvGraphicFramePr>
            <a:graphicFrameLocks noGrp="1"/>
          </p:cNvGraphicFramePr>
          <p:nvPr>
            <p:ph sz="quarter" idx="10"/>
            <p:extLst>
              <p:ext uri="{D42A27DB-BD31-4B8C-83A1-F6EECF244321}">
                <p14:modId xmlns:p14="http://schemas.microsoft.com/office/powerpoint/2010/main" val="3380863969"/>
              </p:ext>
            </p:extLst>
          </p:nvPr>
        </p:nvGraphicFramePr>
        <p:xfrm>
          <a:off x="1590461" y="1435101"/>
          <a:ext cx="7504378" cy="4847714"/>
        </p:xfrm>
        <a:graphic>
          <a:graphicData uri="http://schemas.openxmlformats.org/drawingml/2006/table">
            <a:tbl>
              <a:tblPr>
                <a:tableStyleId>{22838BEF-8BB2-4498-84A7-C5851F593DF1}</a:tableStyleId>
              </a:tblPr>
              <a:tblGrid>
                <a:gridCol w="3752189">
                  <a:extLst>
                    <a:ext uri="{9D8B030D-6E8A-4147-A177-3AD203B41FA5}">
                      <a16:colId xmlns:a16="http://schemas.microsoft.com/office/drawing/2014/main" val="2965769083"/>
                    </a:ext>
                  </a:extLst>
                </a:gridCol>
                <a:gridCol w="3752189">
                  <a:extLst>
                    <a:ext uri="{9D8B030D-6E8A-4147-A177-3AD203B41FA5}">
                      <a16:colId xmlns:a16="http://schemas.microsoft.com/office/drawing/2014/main" val="1891606204"/>
                    </a:ext>
                  </a:extLst>
                </a:gridCol>
              </a:tblGrid>
              <a:tr h="401721">
                <a:tc>
                  <a:txBody>
                    <a:bodyPr/>
                    <a:lstStyle/>
                    <a:p>
                      <a:pPr>
                        <a:buNone/>
                      </a:pPr>
                      <a:r>
                        <a:rPr lang="en-US" sz="2000" b="1">
                          <a:latin typeface="Times New Roman" panose="02020603050405020304" pitchFamily="18" charset="0"/>
                          <a:cs typeface="Times New Roman" panose="02020603050405020304" pitchFamily="18" charset="0"/>
                        </a:rPr>
                        <a:t>Google Dork</a:t>
                      </a:r>
                      <a:endParaRPr lang="en-US" sz="2000">
                        <a:latin typeface="Times New Roman" panose="02020603050405020304" pitchFamily="18" charset="0"/>
                        <a:cs typeface="Times New Roman" panose="02020603050405020304" pitchFamily="18" charset="0"/>
                      </a:endParaRPr>
                    </a:p>
                  </a:txBody>
                  <a:tcPr marL="47931" marR="47931" marT="23966" marB="23966" anchor="ctr"/>
                </a:tc>
                <a:tc>
                  <a:txBody>
                    <a:bodyPr/>
                    <a:lstStyle/>
                    <a:p>
                      <a:pPr>
                        <a:buNone/>
                      </a:pPr>
                      <a:r>
                        <a:rPr lang="en-US" sz="2000" b="1" dirty="0">
                          <a:latin typeface="Times New Roman" panose="02020603050405020304" pitchFamily="18" charset="0"/>
                          <a:cs typeface="Times New Roman" panose="02020603050405020304" pitchFamily="18" charset="0"/>
                        </a:rPr>
                        <a:t>Purpose</a:t>
                      </a:r>
                      <a:endParaRPr lang="en-US" sz="2000" dirty="0">
                        <a:latin typeface="Times New Roman" panose="02020603050405020304" pitchFamily="18" charset="0"/>
                        <a:cs typeface="Times New Roman" panose="02020603050405020304" pitchFamily="18" charset="0"/>
                      </a:endParaRPr>
                    </a:p>
                  </a:txBody>
                  <a:tcPr marL="47931" marR="47931" marT="23966" marB="23966" anchor="ctr"/>
                </a:tc>
                <a:extLst>
                  <a:ext uri="{0D108BD9-81ED-4DB2-BD59-A6C34878D82A}">
                    <a16:rowId xmlns:a16="http://schemas.microsoft.com/office/drawing/2014/main" val="3544236401"/>
                  </a:ext>
                </a:extLst>
              </a:tr>
              <a:tr h="679427">
                <a:tc>
                  <a:txBody>
                    <a:bodyPr/>
                    <a:lstStyle/>
                    <a:p>
                      <a:pPr>
                        <a:buNone/>
                      </a:pPr>
                      <a:r>
                        <a:rPr lang="en-US" sz="1800">
                          <a:latin typeface="Times New Roman" panose="02020603050405020304" pitchFamily="18" charset="0"/>
                          <a:cs typeface="Times New Roman" panose="02020603050405020304" pitchFamily="18" charset="0"/>
                        </a:rPr>
                        <a:t>site:zoom.us</a:t>
                      </a:r>
                    </a:p>
                  </a:txBody>
                  <a:tcPr marL="47931" marR="47931" marT="23966" marB="23966" anchor="ctr"/>
                </a:tc>
                <a:tc>
                  <a:txBody>
                    <a:bodyPr/>
                    <a:lstStyle/>
                    <a:p>
                      <a:pPr>
                        <a:buNone/>
                      </a:pPr>
                      <a:r>
                        <a:rPr lang="en-US" sz="1800" dirty="0">
                          <a:latin typeface="Times New Roman" panose="02020603050405020304" pitchFamily="18" charset="0"/>
                          <a:cs typeface="Times New Roman" panose="02020603050405020304" pitchFamily="18" charset="0"/>
                        </a:rPr>
                        <a:t>Lists all pages indexed from the Zoom website.</a:t>
                      </a:r>
                    </a:p>
                  </a:txBody>
                  <a:tcPr marL="47931" marR="47931" marT="23966" marB="23966" anchor="ctr"/>
                </a:tc>
                <a:extLst>
                  <a:ext uri="{0D108BD9-81ED-4DB2-BD59-A6C34878D82A}">
                    <a16:rowId xmlns:a16="http://schemas.microsoft.com/office/drawing/2014/main" val="133031976"/>
                  </a:ext>
                </a:extLst>
              </a:tr>
              <a:tr h="709643">
                <a:tc>
                  <a:txBody>
                    <a:bodyPr/>
                    <a:lstStyle/>
                    <a:p>
                      <a:pPr>
                        <a:buNone/>
                      </a:pPr>
                      <a:r>
                        <a:rPr lang="en-US" sz="1800">
                          <a:latin typeface="Times New Roman" panose="02020603050405020304" pitchFamily="18" charset="0"/>
                          <a:cs typeface="Times New Roman" panose="02020603050405020304" pitchFamily="18" charset="0"/>
                        </a:rPr>
                        <a:t>site:zoom.us filetype:pdf</a:t>
                      </a:r>
                    </a:p>
                  </a:txBody>
                  <a:tcPr marL="47931" marR="47931" marT="23966" marB="23966" anchor="ctr"/>
                </a:tc>
                <a:tc>
                  <a:txBody>
                    <a:bodyPr/>
                    <a:lstStyle/>
                    <a:p>
                      <a:pPr>
                        <a:buNone/>
                      </a:pPr>
                      <a:r>
                        <a:rPr lang="en-US" sz="1800">
                          <a:latin typeface="Times New Roman" panose="02020603050405020304" pitchFamily="18" charset="0"/>
                          <a:cs typeface="Times New Roman" panose="02020603050405020304" pitchFamily="18" charset="0"/>
                        </a:rPr>
                        <a:t>Finds PDF documents such as manuals, guides, and reports.</a:t>
                      </a:r>
                    </a:p>
                  </a:txBody>
                  <a:tcPr marL="47931" marR="47931" marT="23966" marB="23966" anchor="ctr"/>
                </a:tc>
                <a:extLst>
                  <a:ext uri="{0D108BD9-81ED-4DB2-BD59-A6C34878D82A}">
                    <a16:rowId xmlns:a16="http://schemas.microsoft.com/office/drawing/2014/main" val="3147970954"/>
                  </a:ext>
                </a:extLst>
              </a:tr>
              <a:tr h="709643">
                <a:tc>
                  <a:txBody>
                    <a:bodyPr/>
                    <a:lstStyle/>
                    <a:p>
                      <a:pPr>
                        <a:buNone/>
                      </a:pPr>
                      <a:r>
                        <a:rPr lang="en-US" sz="1800">
                          <a:latin typeface="Times New Roman" panose="02020603050405020304" pitchFamily="18" charset="0"/>
                          <a:cs typeface="Times New Roman" panose="02020603050405020304" pitchFamily="18" charset="0"/>
                        </a:rPr>
                        <a:t>site:zoom.us filetype:ppt OR filetype:pptx</a:t>
                      </a:r>
                    </a:p>
                  </a:txBody>
                  <a:tcPr marL="47931" marR="47931" marT="23966" marB="23966" anchor="ctr"/>
                </a:tc>
                <a:tc>
                  <a:txBody>
                    <a:bodyPr/>
                    <a:lstStyle/>
                    <a:p>
                      <a:pPr>
                        <a:buNone/>
                      </a:pPr>
                      <a:r>
                        <a:rPr lang="en-US" sz="1800">
                          <a:latin typeface="Times New Roman" panose="02020603050405020304" pitchFamily="18" charset="0"/>
                          <a:cs typeface="Times New Roman" panose="02020603050405020304" pitchFamily="18" charset="0"/>
                        </a:rPr>
                        <a:t>Searches for PowerPoint presentations.</a:t>
                      </a:r>
                    </a:p>
                  </a:txBody>
                  <a:tcPr marL="47931" marR="47931" marT="23966" marB="23966" anchor="ctr"/>
                </a:tc>
                <a:extLst>
                  <a:ext uri="{0D108BD9-81ED-4DB2-BD59-A6C34878D82A}">
                    <a16:rowId xmlns:a16="http://schemas.microsoft.com/office/drawing/2014/main" val="3170084930"/>
                  </a:ext>
                </a:extLst>
              </a:tr>
              <a:tr h="709643">
                <a:tc>
                  <a:txBody>
                    <a:bodyPr/>
                    <a:lstStyle/>
                    <a:p>
                      <a:pPr>
                        <a:buNone/>
                      </a:pPr>
                      <a:r>
                        <a:rPr lang="en-US" sz="1800">
                          <a:latin typeface="Times New Roman" panose="02020603050405020304" pitchFamily="18" charset="0"/>
                          <a:cs typeface="Times New Roman" panose="02020603050405020304" pitchFamily="18" charset="0"/>
                        </a:rPr>
                        <a:t>site:zoom.us filetype:xls OR filetype:xlsx</a:t>
                      </a:r>
                    </a:p>
                  </a:txBody>
                  <a:tcPr marL="47931" marR="47931" marT="23966" marB="23966" anchor="ctr"/>
                </a:tc>
                <a:tc>
                  <a:txBody>
                    <a:bodyPr/>
                    <a:lstStyle/>
                    <a:p>
                      <a:pPr>
                        <a:buNone/>
                      </a:pPr>
                      <a:r>
                        <a:rPr lang="en-US" sz="1800">
                          <a:latin typeface="Times New Roman" panose="02020603050405020304" pitchFamily="18" charset="0"/>
                          <a:cs typeface="Times New Roman" panose="02020603050405020304" pitchFamily="18" charset="0"/>
                        </a:rPr>
                        <a:t>Searches for Excel spreadsheets indexed by Google.</a:t>
                      </a:r>
                    </a:p>
                  </a:txBody>
                  <a:tcPr marL="47931" marR="47931" marT="23966" marB="23966" anchor="ctr"/>
                </a:tc>
                <a:extLst>
                  <a:ext uri="{0D108BD9-81ED-4DB2-BD59-A6C34878D82A}">
                    <a16:rowId xmlns:a16="http://schemas.microsoft.com/office/drawing/2014/main" val="472812348"/>
                  </a:ext>
                </a:extLst>
              </a:tr>
              <a:tr h="709643">
                <a:tc>
                  <a:txBody>
                    <a:bodyPr/>
                    <a:lstStyle/>
                    <a:p>
                      <a:pPr>
                        <a:buNone/>
                      </a:pPr>
                      <a:r>
                        <a:rPr lang="en-US" sz="1800">
                          <a:latin typeface="Times New Roman" panose="02020603050405020304" pitchFamily="18" charset="0"/>
                          <a:cs typeface="Times New Roman" panose="02020603050405020304" pitchFamily="18" charset="0"/>
                        </a:rPr>
                        <a:t>site:zoom.us filetype:doc OR filetype:docx</a:t>
                      </a:r>
                    </a:p>
                  </a:txBody>
                  <a:tcPr marL="47931" marR="47931" marT="23966" marB="23966" anchor="ctr"/>
                </a:tc>
                <a:tc>
                  <a:txBody>
                    <a:bodyPr/>
                    <a:lstStyle/>
                    <a:p>
                      <a:pPr>
                        <a:buNone/>
                      </a:pPr>
                      <a:r>
                        <a:rPr lang="en-US" sz="1800">
                          <a:latin typeface="Times New Roman" panose="02020603050405020304" pitchFamily="18" charset="0"/>
                          <a:cs typeface="Times New Roman" panose="02020603050405020304" pitchFamily="18" charset="0"/>
                        </a:rPr>
                        <a:t>Finds Word documents available on the website.</a:t>
                      </a:r>
                    </a:p>
                  </a:txBody>
                  <a:tcPr marL="47931" marR="47931" marT="23966" marB="23966" anchor="ctr"/>
                </a:tc>
                <a:extLst>
                  <a:ext uri="{0D108BD9-81ED-4DB2-BD59-A6C34878D82A}">
                    <a16:rowId xmlns:a16="http://schemas.microsoft.com/office/drawing/2014/main" val="94559421"/>
                  </a:ext>
                </a:extLst>
              </a:tr>
              <a:tr h="545879">
                <a:tc>
                  <a:txBody>
                    <a:bodyPr/>
                    <a:lstStyle/>
                    <a:p>
                      <a:pPr>
                        <a:buNone/>
                      </a:pPr>
                      <a:r>
                        <a:rPr lang="en-US" sz="1800">
                          <a:latin typeface="Times New Roman" panose="02020603050405020304" pitchFamily="18" charset="0"/>
                          <a:cs typeface="Times New Roman" panose="02020603050405020304" pitchFamily="18" charset="0"/>
                        </a:rPr>
                        <a:t>site:zoom.us intitle:security</a:t>
                      </a:r>
                    </a:p>
                  </a:txBody>
                  <a:tcPr marL="47931" marR="47931" marT="23966" marB="23966" anchor="ctr"/>
                </a:tc>
                <a:tc>
                  <a:txBody>
                    <a:bodyPr/>
                    <a:lstStyle/>
                    <a:p>
                      <a:pPr>
                        <a:buNone/>
                      </a:pPr>
                      <a:r>
                        <a:rPr lang="en-US" sz="1800">
                          <a:latin typeface="Times New Roman" panose="02020603050405020304" pitchFamily="18" charset="0"/>
                          <a:cs typeface="Times New Roman" panose="02020603050405020304" pitchFamily="18" charset="0"/>
                        </a:rPr>
                        <a:t>Searches for security-related pages.</a:t>
                      </a:r>
                    </a:p>
                  </a:txBody>
                  <a:tcPr marL="47931" marR="47931" marT="23966" marB="23966" anchor="ctr"/>
                </a:tc>
                <a:extLst>
                  <a:ext uri="{0D108BD9-81ED-4DB2-BD59-A6C34878D82A}">
                    <a16:rowId xmlns:a16="http://schemas.microsoft.com/office/drawing/2014/main" val="3301927977"/>
                  </a:ext>
                </a:extLst>
              </a:tr>
              <a:tr h="382115">
                <a:tc>
                  <a:txBody>
                    <a:bodyPr/>
                    <a:lstStyle/>
                    <a:p>
                      <a:pPr>
                        <a:buNone/>
                      </a:pPr>
                      <a:r>
                        <a:rPr lang="en-US" sz="1800">
                          <a:latin typeface="Times New Roman" panose="02020603050405020304" pitchFamily="18" charset="0"/>
                          <a:cs typeface="Times New Roman" panose="02020603050405020304" pitchFamily="18" charset="0"/>
                        </a:rPr>
                        <a:t>site:zoom.us inurl:support</a:t>
                      </a:r>
                    </a:p>
                  </a:txBody>
                  <a:tcPr marL="47931" marR="47931" marT="23966" marB="23966" anchor="ctr"/>
                </a:tc>
                <a:tc>
                  <a:txBody>
                    <a:bodyPr/>
                    <a:lstStyle/>
                    <a:p>
                      <a:pPr>
                        <a:buNone/>
                      </a:pPr>
                      <a:r>
                        <a:rPr lang="en-US" sz="1800" dirty="0">
                          <a:latin typeface="Times New Roman" panose="02020603050405020304" pitchFamily="18" charset="0"/>
                          <a:cs typeface="Times New Roman" panose="02020603050405020304" pitchFamily="18" charset="0"/>
                        </a:rPr>
                        <a:t>Finds support and help center pages</a:t>
                      </a:r>
                    </a:p>
                  </a:txBody>
                  <a:tcPr marL="47931" marR="47931" marT="23966" marB="23966" anchor="ctr"/>
                </a:tc>
                <a:extLst>
                  <a:ext uri="{0D108BD9-81ED-4DB2-BD59-A6C34878D82A}">
                    <a16:rowId xmlns:a16="http://schemas.microsoft.com/office/drawing/2014/main" val="352296804"/>
                  </a:ext>
                </a:extLst>
              </a:tr>
            </a:tbl>
          </a:graphicData>
        </a:graphic>
      </p:graphicFrame>
    </p:spTree>
    <p:extLst>
      <p:ext uri="{BB962C8B-B14F-4D97-AF65-F5344CB8AC3E}">
        <p14:creationId xmlns:p14="http://schemas.microsoft.com/office/powerpoint/2010/main" val="3805945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AA259-2179-9F79-972A-A6697F094DA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Google Dorks Used</a:t>
            </a:r>
            <a:endParaRPr lang="en-US" dirty="0"/>
          </a:p>
        </p:txBody>
      </p:sp>
      <p:graphicFrame>
        <p:nvGraphicFramePr>
          <p:cNvPr id="32" name="Table 31">
            <a:extLst>
              <a:ext uri="{FF2B5EF4-FFF2-40B4-BE49-F238E27FC236}">
                <a16:creationId xmlns:a16="http://schemas.microsoft.com/office/drawing/2014/main" id="{DB17D376-D789-6CE9-E469-F47489133FE2}"/>
              </a:ext>
            </a:extLst>
          </p:cNvPr>
          <p:cNvGraphicFramePr>
            <a:graphicFrameLocks noGrp="1"/>
          </p:cNvGraphicFramePr>
          <p:nvPr>
            <p:extLst>
              <p:ext uri="{D42A27DB-BD31-4B8C-83A1-F6EECF244321}">
                <p14:modId xmlns:p14="http://schemas.microsoft.com/office/powerpoint/2010/main" val="986173567"/>
              </p:ext>
            </p:extLst>
          </p:nvPr>
        </p:nvGraphicFramePr>
        <p:xfrm>
          <a:off x="1519302" y="1308194"/>
          <a:ext cx="8081898" cy="5288119"/>
        </p:xfrm>
        <a:graphic>
          <a:graphicData uri="http://schemas.openxmlformats.org/drawingml/2006/table">
            <a:tbl>
              <a:tblPr>
                <a:tableStyleId>{22838BEF-8BB2-4498-84A7-C5851F593DF1}</a:tableStyleId>
              </a:tblPr>
              <a:tblGrid>
                <a:gridCol w="4040949">
                  <a:extLst>
                    <a:ext uri="{9D8B030D-6E8A-4147-A177-3AD203B41FA5}">
                      <a16:colId xmlns:a16="http://schemas.microsoft.com/office/drawing/2014/main" val="1157823203"/>
                    </a:ext>
                  </a:extLst>
                </a:gridCol>
                <a:gridCol w="4040949">
                  <a:extLst>
                    <a:ext uri="{9D8B030D-6E8A-4147-A177-3AD203B41FA5}">
                      <a16:colId xmlns:a16="http://schemas.microsoft.com/office/drawing/2014/main" val="2913691951"/>
                    </a:ext>
                  </a:extLst>
                </a:gridCol>
              </a:tblGrid>
              <a:tr h="433905">
                <a:tc>
                  <a:txBody>
                    <a:bodyPr/>
                    <a:lstStyle/>
                    <a:p>
                      <a:pPr>
                        <a:buNone/>
                      </a:pPr>
                      <a:r>
                        <a:rPr lang="en-US" sz="1800" b="1">
                          <a:latin typeface="Times New Roman" panose="02020603050405020304" pitchFamily="18" charset="0"/>
                          <a:cs typeface="Times New Roman" panose="02020603050405020304" pitchFamily="18" charset="0"/>
                        </a:rPr>
                        <a:t>Google Dork</a:t>
                      </a:r>
                      <a:endParaRPr lang="en-US" sz="1800">
                        <a:latin typeface="Times New Roman" panose="02020603050405020304" pitchFamily="18" charset="0"/>
                        <a:cs typeface="Times New Roman" panose="02020603050405020304" pitchFamily="18" charset="0"/>
                      </a:endParaRPr>
                    </a:p>
                  </a:txBody>
                  <a:tcPr marL="19219" marR="19219" marT="9609" marB="9609" anchor="ctr"/>
                </a:tc>
                <a:tc>
                  <a:txBody>
                    <a:bodyPr/>
                    <a:lstStyle/>
                    <a:p>
                      <a:pPr>
                        <a:buNone/>
                      </a:pPr>
                      <a:r>
                        <a:rPr lang="en-US" sz="1800" b="1" dirty="0">
                          <a:latin typeface="Times New Roman" panose="02020603050405020304" pitchFamily="18" charset="0"/>
                          <a:cs typeface="Times New Roman" panose="02020603050405020304" pitchFamily="18" charset="0"/>
                        </a:rPr>
                        <a:t>Purpose</a:t>
                      </a:r>
                      <a:endParaRPr lang="en-US" sz="1800" dirty="0">
                        <a:latin typeface="Times New Roman" panose="02020603050405020304" pitchFamily="18" charset="0"/>
                        <a:cs typeface="Times New Roman" panose="02020603050405020304" pitchFamily="18" charset="0"/>
                      </a:endParaRPr>
                    </a:p>
                  </a:txBody>
                  <a:tcPr marL="19219" marR="19219" marT="9609" marB="9609" anchor="ctr"/>
                </a:tc>
                <a:extLst>
                  <a:ext uri="{0D108BD9-81ED-4DB2-BD59-A6C34878D82A}">
                    <a16:rowId xmlns:a16="http://schemas.microsoft.com/office/drawing/2014/main" val="2082931999"/>
                  </a:ext>
                </a:extLst>
              </a:tr>
              <a:tr h="333352">
                <a:tc>
                  <a:txBody>
                    <a:bodyPr/>
                    <a:lstStyle/>
                    <a:p>
                      <a:pPr>
                        <a:buNone/>
                      </a:pPr>
                      <a:r>
                        <a:rPr lang="en-US" sz="1600" dirty="0">
                          <a:latin typeface="Times New Roman" panose="02020603050405020304" pitchFamily="18" charset="0"/>
                          <a:cs typeface="Times New Roman" panose="02020603050405020304" pitchFamily="18" charset="0"/>
                        </a:rPr>
                        <a:t>Site : zoom.us </a:t>
                      </a:r>
                      <a:r>
                        <a:rPr lang="en-US" sz="1600" dirty="0" err="1">
                          <a:latin typeface="Times New Roman" panose="02020603050405020304" pitchFamily="18" charset="0"/>
                          <a:cs typeface="Times New Roman" panose="02020603050405020304" pitchFamily="18" charset="0"/>
                        </a:rPr>
                        <a:t>inurl</a:t>
                      </a:r>
                      <a:r>
                        <a:rPr lang="en-US" sz="1600" dirty="0">
                          <a:latin typeface="Times New Roman" panose="02020603050405020304" pitchFamily="18" charset="0"/>
                          <a:cs typeface="Times New Roman" panose="02020603050405020304" pitchFamily="18" charset="0"/>
                        </a:rPr>
                        <a:t> : blog</a:t>
                      </a:r>
                    </a:p>
                  </a:txBody>
                  <a:tcPr marL="19219" marR="19219" marT="9609" marB="9609" anchor="ctr"/>
                </a:tc>
                <a:tc>
                  <a:txBody>
                    <a:bodyPr/>
                    <a:lstStyle/>
                    <a:p>
                      <a:pPr>
                        <a:buNone/>
                      </a:pPr>
                      <a:r>
                        <a:rPr lang="en-US" sz="1600" dirty="0">
                          <a:latin typeface="Times New Roman" panose="02020603050405020304" pitchFamily="18" charset="0"/>
                          <a:cs typeface="Times New Roman" panose="02020603050405020304" pitchFamily="18" charset="0"/>
                        </a:rPr>
                        <a:t>Displays official Zoom blog articles.</a:t>
                      </a:r>
                    </a:p>
                  </a:txBody>
                  <a:tcPr marL="19219" marR="19219" marT="9609" marB="9609" anchor="ctr"/>
                </a:tc>
                <a:extLst>
                  <a:ext uri="{0D108BD9-81ED-4DB2-BD59-A6C34878D82A}">
                    <a16:rowId xmlns:a16="http://schemas.microsoft.com/office/drawing/2014/main" val="3387572178"/>
                  </a:ext>
                </a:extLst>
              </a:tr>
              <a:tr h="333352">
                <a:tc>
                  <a:txBody>
                    <a:bodyPr/>
                    <a:lstStyle/>
                    <a:p>
                      <a:pPr>
                        <a:buNone/>
                      </a:pPr>
                      <a:r>
                        <a:rPr lang="en-US" sz="1600">
                          <a:latin typeface="Times New Roman" panose="02020603050405020304" pitchFamily="18" charset="0"/>
                          <a:cs typeface="Times New Roman" panose="02020603050405020304" pitchFamily="18" charset="0"/>
                        </a:rPr>
                        <a:t>site:zoom.us "privacy"</a:t>
                      </a:r>
                    </a:p>
                  </a:txBody>
                  <a:tcPr marL="19219" marR="19219" marT="9609" marB="9609" anchor="ctr"/>
                </a:tc>
                <a:tc>
                  <a:txBody>
                    <a:bodyPr/>
                    <a:lstStyle/>
                    <a:p>
                      <a:pPr>
                        <a:buNone/>
                      </a:pPr>
                      <a:r>
                        <a:rPr lang="en-US" sz="1600" dirty="0">
                          <a:latin typeface="Times New Roman" panose="02020603050405020304" pitchFamily="18" charset="0"/>
                          <a:cs typeface="Times New Roman" panose="02020603050405020304" pitchFamily="18" charset="0"/>
                        </a:rPr>
                        <a:t>Finds the Privacy Policy and related information.</a:t>
                      </a:r>
                    </a:p>
                  </a:txBody>
                  <a:tcPr marL="19219" marR="19219" marT="9609" marB="9609" anchor="ctr"/>
                </a:tc>
                <a:extLst>
                  <a:ext uri="{0D108BD9-81ED-4DB2-BD59-A6C34878D82A}">
                    <a16:rowId xmlns:a16="http://schemas.microsoft.com/office/drawing/2014/main" val="720101950"/>
                  </a:ext>
                </a:extLst>
              </a:tr>
              <a:tr h="333352">
                <a:tc>
                  <a:txBody>
                    <a:bodyPr/>
                    <a:lstStyle/>
                    <a:p>
                      <a:pPr>
                        <a:buNone/>
                      </a:pPr>
                      <a:r>
                        <a:rPr lang="en-US" sz="1600">
                          <a:latin typeface="Times New Roman" panose="02020603050405020304" pitchFamily="18" charset="0"/>
                          <a:cs typeface="Times New Roman" panose="02020603050405020304" pitchFamily="18" charset="0"/>
                        </a:rPr>
                        <a:t>site:zoom.us "terms of service"</a:t>
                      </a:r>
                    </a:p>
                  </a:txBody>
                  <a:tcPr marL="19219" marR="19219" marT="9609" marB="9609" anchor="ctr"/>
                </a:tc>
                <a:tc>
                  <a:txBody>
                    <a:bodyPr/>
                    <a:lstStyle/>
                    <a:p>
                      <a:pPr>
                        <a:buNone/>
                      </a:pPr>
                      <a:r>
                        <a:rPr lang="en-US" sz="1600">
                          <a:latin typeface="Times New Roman" panose="02020603050405020304" pitchFamily="18" charset="0"/>
                          <a:cs typeface="Times New Roman" panose="02020603050405020304" pitchFamily="18" charset="0"/>
                        </a:rPr>
                        <a:t>Searches for Terms of Service documentation.</a:t>
                      </a:r>
                    </a:p>
                  </a:txBody>
                  <a:tcPr marL="19219" marR="19219" marT="9609" marB="9609" anchor="ctr"/>
                </a:tc>
                <a:extLst>
                  <a:ext uri="{0D108BD9-81ED-4DB2-BD59-A6C34878D82A}">
                    <a16:rowId xmlns:a16="http://schemas.microsoft.com/office/drawing/2014/main" val="940965229"/>
                  </a:ext>
                </a:extLst>
              </a:tr>
              <a:tr h="333352">
                <a:tc>
                  <a:txBody>
                    <a:bodyPr/>
                    <a:lstStyle/>
                    <a:p>
                      <a:pPr>
                        <a:buNone/>
                      </a:pPr>
                      <a:r>
                        <a:rPr lang="en-US" sz="1600">
                          <a:latin typeface="Times New Roman" panose="02020603050405020304" pitchFamily="18" charset="0"/>
                          <a:cs typeface="Times New Roman" panose="02020603050405020304" pitchFamily="18" charset="0"/>
                        </a:rPr>
                        <a:t>site:zoom.us "AI Companion"</a:t>
                      </a:r>
                    </a:p>
                  </a:txBody>
                  <a:tcPr marL="19219" marR="19219" marT="9609" marB="9609" anchor="ctr"/>
                </a:tc>
                <a:tc>
                  <a:txBody>
                    <a:bodyPr/>
                    <a:lstStyle/>
                    <a:p>
                      <a:pPr>
                        <a:buNone/>
                      </a:pPr>
                      <a:r>
                        <a:rPr lang="en-US" sz="1600">
                          <a:latin typeface="Times New Roman" panose="02020603050405020304" pitchFamily="18" charset="0"/>
                          <a:cs typeface="Times New Roman" panose="02020603050405020304" pitchFamily="18" charset="0"/>
                        </a:rPr>
                        <a:t>Finds pages related to Zoom AI Companion.</a:t>
                      </a:r>
                    </a:p>
                  </a:txBody>
                  <a:tcPr marL="19219" marR="19219" marT="9609" marB="9609" anchor="ctr"/>
                </a:tc>
                <a:extLst>
                  <a:ext uri="{0D108BD9-81ED-4DB2-BD59-A6C34878D82A}">
                    <a16:rowId xmlns:a16="http://schemas.microsoft.com/office/drawing/2014/main" val="3389506131"/>
                  </a:ext>
                </a:extLst>
              </a:tr>
              <a:tr h="333352">
                <a:tc>
                  <a:txBody>
                    <a:bodyPr/>
                    <a:lstStyle/>
                    <a:p>
                      <a:pPr>
                        <a:buNone/>
                      </a:pPr>
                      <a:r>
                        <a:rPr lang="en-US" sz="1600">
                          <a:latin typeface="Times New Roman" panose="02020603050405020304" pitchFamily="18" charset="0"/>
                          <a:cs typeface="Times New Roman" panose="02020603050405020304" pitchFamily="18" charset="0"/>
                        </a:rPr>
                        <a:t>site:zoom.us "Zoom Phone"</a:t>
                      </a:r>
                    </a:p>
                  </a:txBody>
                  <a:tcPr marL="19219" marR="19219" marT="9609" marB="9609" anchor="ctr"/>
                </a:tc>
                <a:tc>
                  <a:txBody>
                    <a:bodyPr/>
                    <a:lstStyle/>
                    <a:p>
                      <a:pPr>
                        <a:buNone/>
                      </a:pPr>
                      <a:r>
                        <a:rPr lang="en-US" sz="1600">
                          <a:latin typeface="Times New Roman" panose="02020603050405020304" pitchFamily="18" charset="0"/>
                          <a:cs typeface="Times New Roman" panose="02020603050405020304" pitchFamily="18" charset="0"/>
                        </a:rPr>
                        <a:t>Searches for Zoom Phone product pages.</a:t>
                      </a:r>
                    </a:p>
                  </a:txBody>
                  <a:tcPr marL="19219" marR="19219" marT="9609" marB="9609" anchor="ctr"/>
                </a:tc>
                <a:extLst>
                  <a:ext uri="{0D108BD9-81ED-4DB2-BD59-A6C34878D82A}">
                    <a16:rowId xmlns:a16="http://schemas.microsoft.com/office/drawing/2014/main" val="3191705230"/>
                  </a:ext>
                </a:extLst>
              </a:tr>
              <a:tr h="333352">
                <a:tc>
                  <a:txBody>
                    <a:bodyPr/>
                    <a:lstStyle/>
                    <a:p>
                      <a:pPr>
                        <a:buNone/>
                      </a:pPr>
                      <a:r>
                        <a:rPr lang="en-US" sz="1600">
                          <a:latin typeface="Times New Roman" panose="02020603050405020304" pitchFamily="18" charset="0"/>
                          <a:cs typeface="Times New Roman" panose="02020603050405020304" pitchFamily="18" charset="0"/>
                        </a:rPr>
                        <a:t>site:zoom.us "developer"</a:t>
                      </a:r>
                    </a:p>
                  </a:txBody>
                  <a:tcPr marL="19219" marR="19219" marT="9609" marB="9609" anchor="ctr"/>
                </a:tc>
                <a:tc>
                  <a:txBody>
                    <a:bodyPr/>
                    <a:lstStyle/>
                    <a:p>
                      <a:pPr>
                        <a:buNone/>
                      </a:pPr>
                      <a:r>
                        <a:rPr lang="en-US" sz="1600">
                          <a:latin typeface="Times New Roman" panose="02020603050405020304" pitchFamily="18" charset="0"/>
                          <a:cs typeface="Times New Roman" panose="02020603050405020304" pitchFamily="18" charset="0"/>
                        </a:rPr>
                        <a:t>Locates developer resources and documentation.</a:t>
                      </a:r>
                    </a:p>
                  </a:txBody>
                  <a:tcPr marL="19219" marR="19219" marT="9609" marB="9609" anchor="ctr"/>
                </a:tc>
                <a:extLst>
                  <a:ext uri="{0D108BD9-81ED-4DB2-BD59-A6C34878D82A}">
                    <a16:rowId xmlns:a16="http://schemas.microsoft.com/office/drawing/2014/main" val="596041087"/>
                  </a:ext>
                </a:extLst>
              </a:tr>
              <a:tr h="333352">
                <a:tc>
                  <a:txBody>
                    <a:bodyPr/>
                    <a:lstStyle/>
                    <a:p>
                      <a:pPr>
                        <a:buNone/>
                      </a:pPr>
                      <a:r>
                        <a:rPr lang="en-US" sz="1600">
                          <a:latin typeface="Times New Roman" panose="02020603050405020304" pitchFamily="18" charset="0"/>
                          <a:cs typeface="Times New Roman" panose="02020603050405020304" pitchFamily="18" charset="0"/>
                        </a:rPr>
                        <a:t>site:zoom.us "API"</a:t>
                      </a:r>
                    </a:p>
                  </a:txBody>
                  <a:tcPr marL="19219" marR="19219" marT="9609" marB="9609" anchor="ctr"/>
                </a:tc>
                <a:tc>
                  <a:txBody>
                    <a:bodyPr/>
                    <a:lstStyle/>
                    <a:p>
                      <a:pPr>
                        <a:buNone/>
                      </a:pPr>
                      <a:r>
                        <a:rPr lang="en-US" sz="1600" dirty="0">
                          <a:latin typeface="Times New Roman" panose="02020603050405020304" pitchFamily="18" charset="0"/>
                          <a:cs typeface="Times New Roman" panose="02020603050405020304" pitchFamily="18" charset="0"/>
                        </a:rPr>
                        <a:t>Finds API documentation and integration guides.</a:t>
                      </a:r>
                    </a:p>
                  </a:txBody>
                  <a:tcPr marL="19219" marR="19219" marT="9609" marB="9609" anchor="ctr"/>
                </a:tc>
                <a:extLst>
                  <a:ext uri="{0D108BD9-81ED-4DB2-BD59-A6C34878D82A}">
                    <a16:rowId xmlns:a16="http://schemas.microsoft.com/office/drawing/2014/main" val="2180084116"/>
                  </a:ext>
                </a:extLst>
              </a:tr>
              <a:tr h="333352">
                <a:tc>
                  <a:txBody>
                    <a:bodyPr/>
                    <a:lstStyle/>
                    <a:p>
                      <a:pPr>
                        <a:buNone/>
                      </a:pPr>
                      <a:r>
                        <a:rPr lang="en-US" sz="1600">
                          <a:latin typeface="Times New Roman" panose="02020603050405020304" pitchFamily="18" charset="0"/>
                          <a:cs typeface="Times New Roman" panose="02020603050405020304" pitchFamily="18" charset="0"/>
                        </a:rPr>
                        <a:t>site:zoom.us "download"</a:t>
                      </a:r>
                    </a:p>
                  </a:txBody>
                  <a:tcPr marL="19219" marR="19219" marT="9609" marB="9609" anchor="ctr"/>
                </a:tc>
                <a:tc>
                  <a:txBody>
                    <a:bodyPr/>
                    <a:lstStyle/>
                    <a:p>
                      <a:pPr>
                        <a:buNone/>
                      </a:pPr>
                      <a:r>
                        <a:rPr lang="en-US" sz="1600">
                          <a:latin typeface="Times New Roman" panose="02020603050405020304" pitchFamily="18" charset="0"/>
                          <a:cs typeface="Times New Roman" panose="02020603050405020304" pitchFamily="18" charset="0"/>
                        </a:rPr>
                        <a:t>Searches for software download pages.</a:t>
                      </a:r>
                    </a:p>
                  </a:txBody>
                  <a:tcPr marL="19219" marR="19219" marT="9609" marB="9609" anchor="ctr"/>
                </a:tc>
                <a:extLst>
                  <a:ext uri="{0D108BD9-81ED-4DB2-BD59-A6C34878D82A}">
                    <a16:rowId xmlns:a16="http://schemas.microsoft.com/office/drawing/2014/main" val="3396564834"/>
                  </a:ext>
                </a:extLst>
              </a:tr>
              <a:tr h="333352">
                <a:tc>
                  <a:txBody>
                    <a:bodyPr/>
                    <a:lstStyle/>
                    <a:p>
                      <a:pPr>
                        <a:buNone/>
                      </a:pPr>
                      <a:r>
                        <a:rPr lang="en-US" sz="1600">
                          <a:latin typeface="Times New Roman" panose="02020603050405020304" pitchFamily="18" charset="0"/>
                          <a:cs typeface="Times New Roman" panose="02020603050405020304" pitchFamily="18" charset="0"/>
                        </a:rPr>
                        <a:t>site:zoom.us "release notes"</a:t>
                      </a:r>
                    </a:p>
                  </a:txBody>
                  <a:tcPr marL="19219" marR="19219" marT="9609" marB="9609" anchor="ctr"/>
                </a:tc>
                <a:tc>
                  <a:txBody>
                    <a:bodyPr/>
                    <a:lstStyle/>
                    <a:p>
                      <a:pPr>
                        <a:buNone/>
                      </a:pPr>
                      <a:r>
                        <a:rPr lang="en-US" sz="1600">
                          <a:latin typeface="Times New Roman" panose="02020603050405020304" pitchFamily="18" charset="0"/>
                          <a:cs typeface="Times New Roman" panose="02020603050405020304" pitchFamily="18" charset="0"/>
                        </a:rPr>
                        <a:t>Finds product update and release notes.</a:t>
                      </a:r>
                    </a:p>
                  </a:txBody>
                  <a:tcPr marL="19219" marR="19219" marT="9609" marB="9609" anchor="ctr"/>
                </a:tc>
                <a:extLst>
                  <a:ext uri="{0D108BD9-81ED-4DB2-BD59-A6C34878D82A}">
                    <a16:rowId xmlns:a16="http://schemas.microsoft.com/office/drawing/2014/main" val="938740038"/>
                  </a:ext>
                </a:extLst>
              </a:tr>
              <a:tr h="333352">
                <a:tc>
                  <a:txBody>
                    <a:bodyPr/>
                    <a:lstStyle/>
                    <a:p>
                      <a:pPr>
                        <a:buNone/>
                      </a:pPr>
                      <a:r>
                        <a:rPr lang="en-US" sz="1600" dirty="0" err="1">
                          <a:latin typeface="Times New Roman" panose="02020603050405020304" pitchFamily="18" charset="0"/>
                          <a:cs typeface="Times New Roman" panose="02020603050405020304" pitchFamily="18" charset="0"/>
                        </a:rPr>
                        <a:t>site:zoom.us</a:t>
                      </a:r>
                      <a:r>
                        <a:rPr lang="en-US" sz="1600" dirty="0">
                          <a:latin typeface="Times New Roman" panose="02020603050405020304" pitchFamily="18" charset="0"/>
                          <a:cs typeface="Times New Roman" panose="02020603050405020304" pitchFamily="18" charset="0"/>
                        </a:rPr>
                        <a:t> "webinar"</a:t>
                      </a:r>
                    </a:p>
                  </a:txBody>
                  <a:tcPr marL="19219" marR="19219" marT="9609" marB="9609" anchor="ctr"/>
                </a:tc>
                <a:tc>
                  <a:txBody>
                    <a:bodyPr/>
                    <a:lstStyle/>
                    <a:p>
                      <a:pPr>
                        <a:buNone/>
                      </a:pPr>
                      <a:r>
                        <a:rPr lang="en-US" sz="1600">
                          <a:latin typeface="Times New Roman" panose="02020603050405020304" pitchFamily="18" charset="0"/>
                          <a:cs typeface="Times New Roman" panose="02020603050405020304" pitchFamily="18" charset="0"/>
                        </a:rPr>
                        <a:t>Searches for webinar-related resources.</a:t>
                      </a:r>
                    </a:p>
                  </a:txBody>
                  <a:tcPr marL="19219" marR="19219" marT="9609" marB="9609" anchor="ctr"/>
                </a:tc>
                <a:extLst>
                  <a:ext uri="{0D108BD9-81ED-4DB2-BD59-A6C34878D82A}">
                    <a16:rowId xmlns:a16="http://schemas.microsoft.com/office/drawing/2014/main" val="4140567917"/>
                  </a:ext>
                </a:extLst>
              </a:tr>
              <a:tr h="333352">
                <a:tc>
                  <a:txBody>
                    <a:bodyPr/>
                    <a:lstStyle/>
                    <a:p>
                      <a:pPr>
                        <a:buNone/>
                      </a:pPr>
                      <a:r>
                        <a:rPr lang="en-US" sz="1600">
                          <a:latin typeface="Times New Roman" panose="02020603050405020304" pitchFamily="18" charset="0"/>
                          <a:cs typeface="Times New Roman" panose="02020603050405020304" pitchFamily="18" charset="0"/>
                        </a:rPr>
                        <a:t>site:zoom.us "contact"</a:t>
                      </a:r>
                    </a:p>
                  </a:txBody>
                  <a:tcPr marL="19219" marR="19219" marT="9609" marB="9609" anchor="ctr"/>
                </a:tc>
                <a:tc>
                  <a:txBody>
                    <a:bodyPr/>
                    <a:lstStyle/>
                    <a:p>
                      <a:pPr>
                        <a:buNone/>
                      </a:pPr>
                      <a:r>
                        <a:rPr lang="en-US" sz="1600">
                          <a:latin typeface="Times New Roman" panose="02020603050405020304" pitchFamily="18" charset="0"/>
                          <a:cs typeface="Times New Roman" panose="02020603050405020304" pitchFamily="18" charset="0"/>
                        </a:rPr>
                        <a:t>Finds contact information pages.</a:t>
                      </a:r>
                    </a:p>
                  </a:txBody>
                  <a:tcPr marL="19219" marR="19219" marT="9609" marB="9609" anchor="ctr"/>
                </a:tc>
                <a:extLst>
                  <a:ext uri="{0D108BD9-81ED-4DB2-BD59-A6C34878D82A}">
                    <a16:rowId xmlns:a16="http://schemas.microsoft.com/office/drawing/2014/main" val="3480643635"/>
                  </a:ext>
                </a:extLst>
              </a:tr>
              <a:tr h="333352">
                <a:tc>
                  <a:txBody>
                    <a:bodyPr/>
                    <a:lstStyle/>
                    <a:p>
                      <a:pPr>
                        <a:buNone/>
                      </a:pPr>
                      <a:r>
                        <a:rPr lang="en-US" sz="1600">
                          <a:latin typeface="Times New Roman" panose="02020603050405020304" pitchFamily="18" charset="0"/>
                          <a:cs typeface="Times New Roman" panose="02020603050405020304" pitchFamily="18" charset="0"/>
                        </a:rPr>
                        <a:t>site:zoom.us "careers"</a:t>
                      </a:r>
                    </a:p>
                  </a:txBody>
                  <a:tcPr marL="19219" marR="19219" marT="9609" marB="9609" anchor="ctr"/>
                </a:tc>
                <a:tc>
                  <a:txBody>
                    <a:bodyPr/>
                    <a:lstStyle/>
                    <a:p>
                      <a:pPr>
                        <a:buNone/>
                      </a:pPr>
                      <a:r>
                        <a:rPr lang="en-US" sz="1600">
                          <a:latin typeface="Times New Roman" panose="02020603050405020304" pitchFamily="18" charset="0"/>
                          <a:cs typeface="Times New Roman" panose="02020603050405020304" pitchFamily="18" charset="0"/>
                        </a:rPr>
                        <a:t>Searches for job openings and career information.</a:t>
                      </a:r>
                    </a:p>
                  </a:txBody>
                  <a:tcPr marL="19219" marR="19219" marT="9609" marB="9609" anchor="ctr"/>
                </a:tc>
                <a:extLst>
                  <a:ext uri="{0D108BD9-81ED-4DB2-BD59-A6C34878D82A}">
                    <a16:rowId xmlns:a16="http://schemas.microsoft.com/office/drawing/2014/main" val="3053142053"/>
                  </a:ext>
                </a:extLst>
              </a:tr>
              <a:tr h="333352">
                <a:tc>
                  <a:txBody>
                    <a:bodyPr/>
                    <a:lstStyle/>
                    <a:p>
                      <a:pPr>
                        <a:buNone/>
                      </a:pPr>
                      <a:r>
                        <a:rPr lang="en-US" sz="1600">
                          <a:latin typeface="Times New Roman" panose="02020603050405020304" pitchFamily="18" charset="0"/>
                          <a:cs typeface="Times New Roman" panose="02020603050405020304" pitchFamily="18" charset="0"/>
                        </a:rPr>
                        <a:t>site:zoom.us "trust"</a:t>
                      </a:r>
                    </a:p>
                  </a:txBody>
                  <a:tcPr marL="19219" marR="19219" marT="9609" marB="9609" anchor="ctr"/>
                </a:tc>
                <a:tc>
                  <a:txBody>
                    <a:bodyPr/>
                    <a:lstStyle/>
                    <a:p>
                      <a:pPr>
                        <a:buNone/>
                      </a:pPr>
                      <a:r>
                        <a:rPr lang="en-US" sz="1600" dirty="0">
                          <a:latin typeface="Times New Roman" panose="02020603050405020304" pitchFamily="18" charset="0"/>
                          <a:cs typeface="Times New Roman" panose="02020603050405020304" pitchFamily="18" charset="0"/>
                        </a:rPr>
                        <a:t>Finds Trust Center and security compliance pages.</a:t>
                      </a:r>
                    </a:p>
                  </a:txBody>
                  <a:tcPr marL="19219" marR="19219" marT="9609" marB="9609" anchor="ctr"/>
                </a:tc>
                <a:extLst>
                  <a:ext uri="{0D108BD9-81ED-4DB2-BD59-A6C34878D82A}">
                    <a16:rowId xmlns:a16="http://schemas.microsoft.com/office/drawing/2014/main" val="861675512"/>
                  </a:ext>
                </a:extLst>
              </a:tr>
            </a:tbl>
          </a:graphicData>
        </a:graphic>
      </p:graphicFrame>
    </p:spTree>
    <p:extLst>
      <p:ext uri="{BB962C8B-B14F-4D97-AF65-F5344CB8AC3E}">
        <p14:creationId xmlns:p14="http://schemas.microsoft.com/office/powerpoint/2010/main" val="395713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7A124-B6A5-BED4-CC9C-73A4D99CF66D}"/>
              </a:ext>
            </a:extLst>
          </p:cNvPr>
          <p:cNvSpPr>
            <a:spLocks noGrp="1"/>
          </p:cNvSpPr>
          <p:nvPr>
            <p:ph type="title"/>
          </p:nvPr>
        </p:nvSpPr>
        <p:spPr>
          <a:xfrm>
            <a:off x="521207" y="448056"/>
            <a:ext cx="8142733" cy="640080"/>
          </a:xfrm>
        </p:spPr>
        <p:txBody>
          <a:bodyPr>
            <a:normAutofit/>
          </a:bodyPr>
          <a:lstStyle/>
          <a:p>
            <a:r>
              <a:rPr lang="en-US" dirty="0">
                <a:latin typeface="Times New Roman" panose="02020603050405020304" pitchFamily="18" charset="0"/>
                <a:cs typeface="Times New Roman" panose="02020603050405020304" pitchFamily="18" charset="0"/>
              </a:rPr>
              <a:t>DNS &amp; URL Investigation – Zoom Communications</a:t>
            </a:r>
          </a:p>
        </p:txBody>
      </p:sp>
      <p:graphicFrame>
        <p:nvGraphicFramePr>
          <p:cNvPr id="16" name="Table 15">
            <a:extLst>
              <a:ext uri="{FF2B5EF4-FFF2-40B4-BE49-F238E27FC236}">
                <a16:creationId xmlns:a16="http://schemas.microsoft.com/office/drawing/2014/main" id="{BF2993F4-26B8-58F2-080A-4F47983ACC4B}"/>
              </a:ext>
            </a:extLst>
          </p:cNvPr>
          <p:cNvGraphicFramePr>
            <a:graphicFrameLocks noGrp="1"/>
          </p:cNvGraphicFramePr>
          <p:nvPr>
            <p:extLst>
              <p:ext uri="{D42A27DB-BD31-4B8C-83A1-F6EECF244321}">
                <p14:modId xmlns:p14="http://schemas.microsoft.com/office/powerpoint/2010/main" val="517378834"/>
              </p:ext>
            </p:extLst>
          </p:nvPr>
        </p:nvGraphicFramePr>
        <p:xfrm>
          <a:off x="2418080" y="2007726"/>
          <a:ext cx="5415280" cy="3394899"/>
        </p:xfrm>
        <a:graphic>
          <a:graphicData uri="http://schemas.openxmlformats.org/drawingml/2006/table">
            <a:tbl>
              <a:tblPr>
                <a:tableStyleId>{22838BEF-8BB2-4498-84A7-C5851F593DF1}</a:tableStyleId>
              </a:tblPr>
              <a:tblGrid>
                <a:gridCol w="2707640">
                  <a:extLst>
                    <a:ext uri="{9D8B030D-6E8A-4147-A177-3AD203B41FA5}">
                      <a16:colId xmlns:a16="http://schemas.microsoft.com/office/drawing/2014/main" val="4177736005"/>
                    </a:ext>
                  </a:extLst>
                </a:gridCol>
                <a:gridCol w="2707640">
                  <a:extLst>
                    <a:ext uri="{9D8B030D-6E8A-4147-A177-3AD203B41FA5}">
                      <a16:colId xmlns:a16="http://schemas.microsoft.com/office/drawing/2014/main" val="3839718573"/>
                    </a:ext>
                  </a:extLst>
                </a:gridCol>
              </a:tblGrid>
              <a:tr h="285063">
                <a:tc>
                  <a:txBody>
                    <a:bodyPr/>
                    <a:lstStyle/>
                    <a:p>
                      <a:pPr>
                        <a:buNone/>
                      </a:pPr>
                      <a:r>
                        <a:rPr lang="en-US" sz="2000" b="1">
                          <a:latin typeface="Times New Roman" panose="02020603050405020304" pitchFamily="18" charset="0"/>
                          <a:cs typeface="Times New Roman" panose="02020603050405020304" pitchFamily="18" charset="0"/>
                        </a:rPr>
                        <a:t>Attribute</a:t>
                      </a:r>
                      <a:endParaRPr lang="en-US" sz="2000">
                        <a:latin typeface="Times New Roman" panose="02020603050405020304" pitchFamily="18" charset="0"/>
                        <a:cs typeface="Times New Roman" panose="02020603050405020304" pitchFamily="18" charset="0"/>
                      </a:endParaRPr>
                    </a:p>
                  </a:txBody>
                  <a:tcPr anchor="ctr"/>
                </a:tc>
                <a:tc>
                  <a:txBody>
                    <a:bodyPr/>
                    <a:lstStyle/>
                    <a:p>
                      <a:pPr>
                        <a:buNone/>
                      </a:pPr>
                      <a:r>
                        <a:rPr lang="en-US" sz="2000" b="1" dirty="0">
                          <a:latin typeface="Times New Roman" panose="02020603050405020304" pitchFamily="18" charset="0"/>
                          <a:cs typeface="Times New Roman" panose="02020603050405020304" pitchFamily="18" charset="0"/>
                        </a:rPr>
                        <a:t>Details</a:t>
                      </a:r>
                      <a:endParaRPr 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82882509"/>
                  </a:ext>
                </a:extLst>
              </a:tr>
              <a:tr h="285063">
                <a:tc>
                  <a:txBody>
                    <a:bodyPr/>
                    <a:lstStyle/>
                    <a:p>
                      <a:pPr>
                        <a:buNone/>
                      </a:pPr>
                      <a:r>
                        <a:rPr lang="en-US" sz="2000">
                          <a:latin typeface="Times New Roman" panose="02020603050405020304" pitchFamily="18" charset="0"/>
                          <a:cs typeface="Times New Roman" panose="02020603050405020304" pitchFamily="18" charset="0"/>
                        </a:rPr>
                        <a:t>Domain Name</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zoom.us</a:t>
                      </a:r>
                    </a:p>
                  </a:txBody>
                  <a:tcPr anchor="ctr"/>
                </a:tc>
                <a:extLst>
                  <a:ext uri="{0D108BD9-81ED-4DB2-BD59-A6C34878D82A}">
                    <a16:rowId xmlns:a16="http://schemas.microsoft.com/office/drawing/2014/main" val="1614597866"/>
                  </a:ext>
                </a:extLst>
              </a:tr>
              <a:tr h="712659">
                <a:tc>
                  <a:txBody>
                    <a:bodyPr/>
                    <a:lstStyle/>
                    <a:p>
                      <a:pPr>
                        <a:buNone/>
                      </a:pPr>
                      <a:r>
                        <a:rPr lang="en-US" sz="2000">
                          <a:latin typeface="Times New Roman" panose="02020603050405020304" pitchFamily="18" charset="0"/>
                          <a:cs typeface="Times New Roman" panose="02020603050405020304" pitchFamily="18" charset="0"/>
                        </a:rPr>
                        <a:t>Organization</a:t>
                      </a:r>
                    </a:p>
                  </a:txBody>
                  <a:tcPr anchor="ctr"/>
                </a:tc>
                <a:tc>
                  <a:txBody>
                    <a:bodyPr/>
                    <a:lstStyle/>
                    <a:p>
                      <a:pPr>
                        <a:buNone/>
                      </a:pPr>
                      <a:r>
                        <a:rPr lang="en-US" sz="2000">
                          <a:latin typeface="Times New Roman" panose="02020603050405020304" pitchFamily="18" charset="0"/>
                          <a:cs typeface="Times New Roman" panose="02020603050405020304" pitchFamily="18" charset="0"/>
                        </a:rPr>
                        <a:t>Zoom Communications, Inc.</a:t>
                      </a:r>
                    </a:p>
                  </a:txBody>
                  <a:tcPr anchor="ctr"/>
                </a:tc>
                <a:extLst>
                  <a:ext uri="{0D108BD9-81ED-4DB2-BD59-A6C34878D82A}">
                    <a16:rowId xmlns:a16="http://schemas.microsoft.com/office/drawing/2014/main" val="332516257"/>
                  </a:ext>
                </a:extLst>
              </a:tr>
              <a:tr h="498861">
                <a:tc>
                  <a:txBody>
                    <a:bodyPr/>
                    <a:lstStyle/>
                    <a:p>
                      <a:pPr>
                        <a:buNone/>
                      </a:pPr>
                      <a:r>
                        <a:rPr lang="en-US" sz="2000" dirty="0">
                          <a:latin typeface="Times New Roman" panose="02020603050405020304" pitchFamily="18" charset="0"/>
                          <a:cs typeface="Times New Roman" panose="02020603050405020304" pitchFamily="18" charset="0"/>
                        </a:rPr>
                        <a:t>Top-Level Domain (TLD)</a:t>
                      </a:r>
                    </a:p>
                  </a:txBody>
                  <a:tcPr anchor="ctr"/>
                </a:tc>
                <a:tc>
                  <a:txBody>
                    <a:bodyPr/>
                    <a:lstStyle/>
                    <a:p>
                      <a:pPr>
                        <a:buNone/>
                      </a:pPr>
                      <a:r>
                        <a:rPr lang="en-US" sz="2000">
                          <a:latin typeface="Times New Roman" panose="02020603050405020304" pitchFamily="18" charset="0"/>
                          <a:cs typeface="Times New Roman" panose="02020603050405020304" pitchFamily="18" charset="0"/>
                        </a:rPr>
                        <a:t>.us</a:t>
                      </a:r>
                    </a:p>
                  </a:txBody>
                  <a:tcPr anchor="ctr"/>
                </a:tc>
                <a:extLst>
                  <a:ext uri="{0D108BD9-81ED-4DB2-BD59-A6C34878D82A}">
                    <a16:rowId xmlns:a16="http://schemas.microsoft.com/office/drawing/2014/main" val="3234935258"/>
                  </a:ext>
                </a:extLst>
              </a:tr>
              <a:tr h="285063">
                <a:tc>
                  <a:txBody>
                    <a:bodyPr/>
                    <a:lstStyle/>
                    <a:p>
                      <a:pPr>
                        <a:buNone/>
                      </a:pPr>
                      <a:r>
                        <a:rPr lang="en-US" sz="2000">
                          <a:latin typeface="Times New Roman" panose="02020603050405020304" pitchFamily="18" charset="0"/>
                          <a:cs typeface="Times New Roman" panose="02020603050405020304" pitchFamily="18" charset="0"/>
                        </a:rPr>
                        <a:t>Protocol</a:t>
                      </a:r>
                    </a:p>
                  </a:txBody>
                  <a:tcPr anchor="ctr"/>
                </a:tc>
                <a:tc>
                  <a:txBody>
                    <a:bodyPr/>
                    <a:lstStyle/>
                    <a:p>
                      <a:pPr>
                        <a:buNone/>
                      </a:pPr>
                      <a:r>
                        <a:rPr lang="en-US" sz="2000">
                          <a:latin typeface="Times New Roman" panose="02020603050405020304" pitchFamily="18" charset="0"/>
                          <a:cs typeface="Times New Roman" panose="02020603050405020304" pitchFamily="18" charset="0"/>
                        </a:rPr>
                        <a:t>HTTPS</a:t>
                      </a:r>
                    </a:p>
                  </a:txBody>
                  <a:tcPr anchor="ctr"/>
                </a:tc>
                <a:extLst>
                  <a:ext uri="{0D108BD9-81ED-4DB2-BD59-A6C34878D82A}">
                    <a16:rowId xmlns:a16="http://schemas.microsoft.com/office/drawing/2014/main" val="843583065"/>
                  </a:ext>
                </a:extLst>
              </a:tr>
              <a:tr h="285063">
                <a:tc>
                  <a:txBody>
                    <a:bodyPr/>
                    <a:lstStyle/>
                    <a:p>
                      <a:pPr>
                        <a:buNone/>
                      </a:pPr>
                      <a:r>
                        <a:rPr lang="en-US" sz="2000">
                          <a:latin typeface="Times New Roman" panose="02020603050405020304" pitchFamily="18" charset="0"/>
                          <a:cs typeface="Times New Roman" panose="02020603050405020304" pitchFamily="18" charset="0"/>
                        </a:rPr>
                        <a:t>Website Status</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Active</a:t>
                      </a:r>
                    </a:p>
                  </a:txBody>
                  <a:tcPr anchor="ctr"/>
                </a:tc>
                <a:extLst>
                  <a:ext uri="{0D108BD9-81ED-4DB2-BD59-A6C34878D82A}">
                    <a16:rowId xmlns:a16="http://schemas.microsoft.com/office/drawing/2014/main" val="2504077834"/>
                  </a:ext>
                </a:extLst>
              </a:tr>
              <a:tr h="285063">
                <a:tc>
                  <a:txBody>
                    <a:bodyPr/>
                    <a:lstStyle/>
                    <a:p>
                      <a:pPr>
                        <a:buNone/>
                      </a:pPr>
                      <a:r>
                        <a:rPr lang="en-US" sz="2000">
                          <a:latin typeface="Times New Roman" panose="02020603050405020304" pitchFamily="18" charset="0"/>
                          <a:cs typeface="Times New Roman" panose="02020603050405020304" pitchFamily="18" charset="0"/>
                        </a:rPr>
                        <a:t>Secure Connection</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Enabled (SSL/TLS)</a:t>
                      </a:r>
                    </a:p>
                  </a:txBody>
                  <a:tcPr anchor="ctr"/>
                </a:tc>
                <a:extLst>
                  <a:ext uri="{0D108BD9-81ED-4DB2-BD59-A6C34878D82A}">
                    <a16:rowId xmlns:a16="http://schemas.microsoft.com/office/drawing/2014/main" val="2706293925"/>
                  </a:ext>
                </a:extLst>
              </a:tr>
            </a:tbl>
          </a:graphicData>
        </a:graphic>
      </p:graphicFrame>
      <p:sp>
        <p:nvSpPr>
          <p:cNvPr id="18" name="TextBox 17">
            <a:extLst>
              <a:ext uri="{FF2B5EF4-FFF2-40B4-BE49-F238E27FC236}">
                <a16:creationId xmlns:a16="http://schemas.microsoft.com/office/drawing/2014/main" id="{ECE3B87F-036A-DF9B-95B1-680800A578C5}"/>
              </a:ext>
            </a:extLst>
          </p:cNvPr>
          <p:cNvSpPr txBox="1"/>
          <p:nvPr/>
        </p:nvSpPr>
        <p:spPr>
          <a:xfrm>
            <a:off x="2418080" y="1363265"/>
            <a:ext cx="6096000" cy="369332"/>
          </a:xfrm>
          <a:prstGeom prst="rect">
            <a:avLst/>
          </a:prstGeom>
          <a:noFill/>
        </p:spPr>
        <p:txBody>
          <a:bodyPr wrap="square">
            <a:spAutoFit/>
          </a:bodyPr>
          <a:lstStyle/>
          <a:p>
            <a:pPr>
              <a:buNone/>
            </a:pPr>
            <a:r>
              <a:rPr lang="en-US" b="1" dirty="0"/>
              <a:t>Domain Information</a:t>
            </a:r>
          </a:p>
        </p:txBody>
      </p:sp>
    </p:spTree>
    <p:extLst>
      <p:ext uri="{BB962C8B-B14F-4D97-AF65-F5344CB8AC3E}">
        <p14:creationId xmlns:p14="http://schemas.microsoft.com/office/powerpoint/2010/main" val="3028925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E1D8C-FAEA-B68C-20D8-F7476D063EA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DNS Records Investigation</a:t>
            </a:r>
          </a:p>
        </p:txBody>
      </p:sp>
      <p:graphicFrame>
        <p:nvGraphicFramePr>
          <p:cNvPr id="4" name="Table 3">
            <a:extLst>
              <a:ext uri="{FF2B5EF4-FFF2-40B4-BE49-F238E27FC236}">
                <a16:creationId xmlns:a16="http://schemas.microsoft.com/office/drawing/2014/main" id="{EF625CD6-1EFC-2630-C9B4-49C1B2CE0263}"/>
              </a:ext>
            </a:extLst>
          </p:cNvPr>
          <p:cNvGraphicFramePr>
            <a:graphicFrameLocks noGrp="1"/>
          </p:cNvGraphicFramePr>
          <p:nvPr>
            <p:extLst>
              <p:ext uri="{D42A27DB-BD31-4B8C-83A1-F6EECF244321}">
                <p14:modId xmlns:p14="http://schemas.microsoft.com/office/powerpoint/2010/main" val="3559572282"/>
              </p:ext>
            </p:extLst>
          </p:nvPr>
        </p:nvGraphicFramePr>
        <p:xfrm>
          <a:off x="2198456" y="1546860"/>
          <a:ext cx="6640744" cy="4402134"/>
        </p:xfrm>
        <a:graphic>
          <a:graphicData uri="http://schemas.openxmlformats.org/drawingml/2006/table">
            <a:tbl>
              <a:tblPr>
                <a:tableStyleId>{22838BEF-8BB2-4498-84A7-C5851F593DF1}</a:tableStyleId>
              </a:tblPr>
              <a:tblGrid>
                <a:gridCol w="3320372">
                  <a:extLst>
                    <a:ext uri="{9D8B030D-6E8A-4147-A177-3AD203B41FA5}">
                      <a16:colId xmlns:a16="http://schemas.microsoft.com/office/drawing/2014/main" val="4176422190"/>
                    </a:ext>
                  </a:extLst>
                </a:gridCol>
                <a:gridCol w="3320372">
                  <a:extLst>
                    <a:ext uri="{9D8B030D-6E8A-4147-A177-3AD203B41FA5}">
                      <a16:colId xmlns:a16="http://schemas.microsoft.com/office/drawing/2014/main" val="3427193132"/>
                    </a:ext>
                  </a:extLst>
                </a:gridCol>
              </a:tblGrid>
              <a:tr h="227330">
                <a:tc>
                  <a:txBody>
                    <a:bodyPr/>
                    <a:lstStyle/>
                    <a:p>
                      <a:pPr>
                        <a:buNone/>
                      </a:pPr>
                      <a:r>
                        <a:rPr lang="en-US" sz="2000" b="1">
                          <a:latin typeface="Times New Roman" panose="02020603050405020304" pitchFamily="18" charset="0"/>
                          <a:cs typeface="Times New Roman" panose="02020603050405020304" pitchFamily="18" charset="0"/>
                        </a:rPr>
                        <a:t>DNS Record</a:t>
                      </a:r>
                      <a:endParaRPr lang="en-US" sz="2000">
                        <a:latin typeface="Times New Roman" panose="02020603050405020304" pitchFamily="18" charset="0"/>
                        <a:cs typeface="Times New Roman" panose="02020603050405020304" pitchFamily="18" charset="0"/>
                      </a:endParaRPr>
                    </a:p>
                  </a:txBody>
                  <a:tcPr marL="56832" marR="56832" marT="28416" marB="28416" anchor="ctr"/>
                </a:tc>
                <a:tc>
                  <a:txBody>
                    <a:bodyPr/>
                    <a:lstStyle/>
                    <a:p>
                      <a:pPr>
                        <a:buNone/>
                      </a:pPr>
                      <a:r>
                        <a:rPr lang="en-US" sz="2000" b="1" dirty="0">
                          <a:latin typeface="Times New Roman" panose="02020603050405020304" pitchFamily="18" charset="0"/>
                          <a:cs typeface="Times New Roman" panose="02020603050405020304" pitchFamily="18" charset="0"/>
                        </a:rPr>
                        <a:t>Purpose</a:t>
                      </a:r>
                      <a:endParaRPr lang="en-US" sz="2000" dirty="0">
                        <a:latin typeface="Times New Roman" panose="02020603050405020304" pitchFamily="18" charset="0"/>
                        <a:cs typeface="Times New Roman" panose="02020603050405020304" pitchFamily="18" charset="0"/>
                      </a:endParaRPr>
                    </a:p>
                  </a:txBody>
                  <a:tcPr marL="56832" marR="56832" marT="28416" marB="28416" anchor="ctr"/>
                </a:tc>
                <a:extLst>
                  <a:ext uri="{0D108BD9-81ED-4DB2-BD59-A6C34878D82A}">
                    <a16:rowId xmlns:a16="http://schemas.microsoft.com/office/drawing/2014/main" val="1509360491"/>
                  </a:ext>
                </a:extLst>
              </a:tr>
              <a:tr h="568325">
                <a:tc>
                  <a:txBody>
                    <a:bodyPr/>
                    <a:lstStyle/>
                    <a:p>
                      <a:pPr>
                        <a:buNone/>
                      </a:pPr>
                      <a:r>
                        <a:rPr lang="en-US" sz="1800">
                          <a:latin typeface="Times New Roman" panose="02020603050405020304" pitchFamily="18" charset="0"/>
                          <a:cs typeface="Times New Roman" panose="02020603050405020304" pitchFamily="18" charset="0"/>
                        </a:rPr>
                        <a:t>A Record</a:t>
                      </a:r>
                    </a:p>
                  </a:txBody>
                  <a:tcPr marL="56832" marR="56832" marT="28416" marB="28416" anchor="ctr"/>
                </a:tc>
                <a:tc>
                  <a:txBody>
                    <a:bodyPr/>
                    <a:lstStyle/>
                    <a:p>
                      <a:pPr>
                        <a:buNone/>
                      </a:pPr>
                      <a:r>
                        <a:rPr lang="en-US" sz="1800" dirty="0">
                          <a:latin typeface="Times New Roman" panose="02020603050405020304" pitchFamily="18" charset="0"/>
                          <a:cs typeface="Times New Roman" panose="02020603050405020304" pitchFamily="18" charset="0"/>
                        </a:rPr>
                        <a:t>Maps the domain name to an IPv4 address.</a:t>
                      </a:r>
                    </a:p>
                  </a:txBody>
                  <a:tcPr marL="56832" marR="56832" marT="28416" marB="28416" anchor="ctr"/>
                </a:tc>
                <a:extLst>
                  <a:ext uri="{0D108BD9-81ED-4DB2-BD59-A6C34878D82A}">
                    <a16:rowId xmlns:a16="http://schemas.microsoft.com/office/drawing/2014/main" val="4062096471"/>
                  </a:ext>
                </a:extLst>
              </a:tr>
              <a:tr h="568325">
                <a:tc>
                  <a:txBody>
                    <a:bodyPr/>
                    <a:lstStyle/>
                    <a:p>
                      <a:pPr>
                        <a:buNone/>
                      </a:pPr>
                      <a:r>
                        <a:rPr lang="en-US" sz="1800">
                          <a:latin typeface="Times New Roman" panose="02020603050405020304" pitchFamily="18" charset="0"/>
                          <a:cs typeface="Times New Roman" panose="02020603050405020304" pitchFamily="18" charset="0"/>
                        </a:rPr>
                        <a:t>AAAA Record</a:t>
                      </a:r>
                    </a:p>
                  </a:txBody>
                  <a:tcPr marL="56832" marR="56832" marT="28416" marB="28416" anchor="ctr"/>
                </a:tc>
                <a:tc>
                  <a:txBody>
                    <a:bodyPr/>
                    <a:lstStyle/>
                    <a:p>
                      <a:pPr>
                        <a:buNone/>
                      </a:pPr>
                      <a:r>
                        <a:rPr lang="en-US" sz="1800">
                          <a:latin typeface="Times New Roman" panose="02020603050405020304" pitchFamily="18" charset="0"/>
                          <a:cs typeface="Times New Roman" panose="02020603050405020304" pitchFamily="18" charset="0"/>
                        </a:rPr>
                        <a:t>Maps the domain name to an IPv6 address.</a:t>
                      </a:r>
                    </a:p>
                  </a:txBody>
                  <a:tcPr marL="56832" marR="56832" marT="28416" marB="28416" anchor="ctr"/>
                </a:tc>
                <a:extLst>
                  <a:ext uri="{0D108BD9-81ED-4DB2-BD59-A6C34878D82A}">
                    <a16:rowId xmlns:a16="http://schemas.microsoft.com/office/drawing/2014/main" val="1282442099"/>
                  </a:ext>
                </a:extLst>
              </a:tr>
              <a:tr h="568325">
                <a:tc>
                  <a:txBody>
                    <a:bodyPr/>
                    <a:lstStyle/>
                    <a:p>
                      <a:pPr>
                        <a:buNone/>
                      </a:pPr>
                      <a:r>
                        <a:rPr lang="en-US" sz="1800">
                          <a:latin typeface="Times New Roman" panose="02020603050405020304" pitchFamily="18" charset="0"/>
                          <a:cs typeface="Times New Roman" panose="02020603050405020304" pitchFamily="18" charset="0"/>
                        </a:rPr>
                        <a:t>MX Record</a:t>
                      </a:r>
                    </a:p>
                  </a:txBody>
                  <a:tcPr marL="56832" marR="56832" marT="28416" marB="28416" anchor="ctr"/>
                </a:tc>
                <a:tc>
                  <a:txBody>
                    <a:bodyPr/>
                    <a:lstStyle/>
                    <a:p>
                      <a:pPr>
                        <a:buNone/>
                      </a:pPr>
                      <a:r>
                        <a:rPr lang="en-US" sz="1800">
                          <a:latin typeface="Times New Roman" panose="02020603050405020304" pitchFamily="18" charset="0"/>
                          <a:cs typeface="Times New Roman" panose="02020603050405020304" pitchFamily="18" charset="0"/>
                        </a:rPr>
                        <a:t>Specifies mail servers responsible for email delivery.</a:t>
                      </a:r>
                    </a:p>
                  </a:txBody>
                  <a:tcPr marL="56832" marR="56832" marT="28416" marB="28416" anchor="ctr"/>
                </a:tc>
                <a:extLst>
                  <a:ext uri="{0D108BD9-81ED-4DB2-BD59-A6C34878D82A}">
                    <a16:rowId xmlns:a16="http://schemas.microsoft.com/office/drawing/2014/main" val="3166272847"/>
                  </a:ext>
                </a:extLst>
              </a:tr>
              <a:tr h="738822">
                <a:tc>
                  <a:txBody>
                    <a:bodyPr/>
                    <a:lstStyle/>
                    <a:p>
                      <a:pPr>
                        <a:buNone/>
                      </a:pPr>
                      <a:r>
                        <a:rPr lang="en-US" sz="1800">
                          <a:latin typeface="Times New Roman" panose="02020603050405020304" pitchFamily="18" charset="0"/>
                          <a:cs typeface="Times New Roman" panose="02020603050405020304" pitchFamily="18" charset="0"/>
                        </a:rPr>
                        <a:t>NS Record</a:t>
                      </a:r>
                    </a:p>
                  </a:txBody>
                  <a:tcPr marL="56832" marR="56832" marT="28416" marB="28416" anchor="ctr"/>
                </a:tc>
                <a:tc>
                  <a:txBody>
                    <a:bodyPr/>
                    <a:lstStyle/>
                    <a:p>
                      <a:pPr>
                        <a:buNone/>
                      </a:pPr>
                      <a:r>
                        <a:rPr lang="en-US" sz="1800">
                          <a:latin typeface="Times New Roman" panose="02020603050405020304" pitchFamily="18" charset="0"/>
                          <a:cs typeface="Times New Roman" panose="02020603050405020304" pitchFamily="18" charset="0"/>
                        </a:rPr>
                        <a:t>Identifies the authoritative name servers for the domain.</a:t>
                      </a:r>
                    </a:p>
                  </a:txBody>
                  <a:tcPr marL="56832" marR="56832" marT="28416" marB="28416" anchor="ctr"/>
                </a:tc>
                <a:extLst>
                  <a:ext uri="{0D108BD9-81ED-4DB2-BD59-A6C34878D82A}">
                    <a16:rowId xmlns:a16="http://schemas.microsoft.com/office/drawing/2014/main" val="2998374816"/>
                  </a:ext>
                </a:extLst>
              </a:tr>
              <a:tr h="738822">
                <a:tc>
                  <a:txBody>
                    <a:bodyPr/>
                    <a:lstStyle/>
                    <a:p>
                      <a:pPr>
                        <a:buNone/>
                      </a:pPr>
                      <a:r>
                        <a:rPr lang="en-US" sz="1800">
                          <a:latin typeface="Times New Roman" panose="02020603050405020304" pitchFamily="18" charset="0"/>
                          <a:cs typeface="Times New Roman" panose="02020603050405020304" pitchFamily="18" charset="0"/>
                        </a:rPr>
                        <a:t>TXT Record</a:t>
                      </a:r>
                    </a:p>
                  </a:txBody>
                  <a:tcPr marL="56832" marR="56832" marT="28416" marB="28416" anchor="ctr"/>
                </a:tc>
                <a:tc>
                  <a:txBody>
                    <a:bodyPr/>
                    <a:lstStyle/>
                    <a:p>
                      <a:pPr>
                        <a:buNone/>
                      </a:pPr>
                      <a:r>
                        <a:rPr lang="en-US" sz="1800">
                          <a:latin typeface="Times New Roman" panose="02020603050405020304" pitchFamily="18" charset="0"/>
                          <a:cs typeface="Times New Roman" panose="02020603050405020304" pitchFamily="18" charset="0"/>
                        </a:rPr>
                        <a:t>Stores verification and email security information (such as SPF).</a:t>
                      </a:r>
                    </a:p>
                  </a:txBody>
                  <a:tcPr marL="56832" marR="56832" marT="28416" marB="28416" anchor="ctr"/>
                </a:tc>
                <a:extLst>
                  <a:ext uri="{0D108BD9-81ED-4DB2-BD59-A6C34878D82A}">
                    <a16:rowId xmlns:a16="http://schemas.microsoft.com/office/drawing/2014/main" val="4043427628"/>
                  </a:ext>
                </a:extLst>
              </a:tr>
              <a:tr h="568325">
                <a:tc>
                  <a:txBody>
                    <a:bodyPr/>
                    <a:lstStyle/>
                    <a:p>
                      <a:pPr>
                        <a:buNone/>
                      </a:pPr>
                      <a:r>
                        <a:rPr lang="en-US" sz="1800">
                          <a:latin typeface="Times New Roman" panose="02020603050405020304" pitchFamily="18" charset="0"/>
                          <a:cs typeface="Times New Roman" panose="02020603050405020304" pitchFamily="18" charset="0"/>
                        </a:rPr>
                        <a:t>CNAME Record</a:t>
                      </a:r>
                    </a:p>
                  </a:txBody>
                  <a:tcPr marL="56832" marR="56832" marT="28416" marB="28416" anchor="ctr"/>
                </a:tc>
                <a:tc>
                  <a:txBody>
                    <a:bodyPr/>
                    <a:lstStyle/>
                    <a:p>
                      <a:pPr>
                        <a:buNone/>
                      </a:pPr>
                      <a:r>
                        <a:rPr lang="en-US" sz="1800" dirty="0">
                          <a:latin typeface="Times New Roman" panose="02020603050405020304" pitchFamily="18" charset="0"/>
                          <a:cs typeface="Times New Roman" panose="02020603050405020304" pitchFamily="18" charset="0"/>
                        </a:rPr>
                        <a:t>Maps subdomains to another domain name or service.</a:t>
                      </a:r>
                    </a:p>
                  </a:txBody>
                  <a:tcPr marL="56832" marR="56832" marT="28416" marB="28416" anchor="ctr"/>
                </a:tc>
                <a:extLst>
                  <a:ext uri="{0D108BD9-81ED-4DB2-BD59-A6C34878D82A}">
                    <a16:rowId xmlns:a16="http://schemas.microsoft.com/office/drawing/2014/main" val="3608316610"/>
                  </a:ext>
                </a:extLst>
              </a:tr>
            </a:tbl>
          </a:graphicData>
        </a:graphic>
      </p:graphicFrame>
    </p:spTree>
    <p:extLst>
      <p:ext uri="{BB962C8B-B14F-4D97-AF65-F5344CB8AC3E}">
        <p14:creationId xmlns:p14="http://schemas.microsoft.com/office/powerpoint/2010/main" val="1673841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610CB-A8FE-DB42-0D0B-5BCA56D19776}"/>
              </a:ext>
            </a:extLst>
          </p:cNvPr>
          <p:cNvSpPr>
            <a:spLocks noGrp="1"/>
          </p:cNvSpPr>
          <p:nvPr>
            <p:ph type="title"/>
          </p:nvPr>
        </p:nvSpPr>
        <p:spPr>
          <a:xfrm>
            <a:off x="521207" y="448056"/>
            <a:ext cx="10055353" cy="640080"/>
          </a:xfrm>
        </p:spPr>
        <p:txBody>
          <a:bodyPr>
            <a:normAutofit/>
          </a:bodyPr>
          <a:lstStyle/>
          <a:p>
            <a:r>
              <a:rPr lang="en-US" dirty="0">
                <a:latin typeface="Times New Roman" panose="02020603050405020304" pitchFamily="18" charset="0"/>
                <a:cs typeface="Times New Roman" panose="02020603050405020304" pitchFamily="18" charset="0"/>
              </a:rPr>
              <a:t>Digital Footprint Investigation – Zoom Communications</a:t>
            </a:r>
          </a:p>
        </p:txBody>
      </p:sp>
      <p:sp>
        <p:nvSpPr>
          <p:cNvPr id="5" name="TextBox 4">
            <a:extLst>
              <a:ext uri="{FF2B5EF4-FFF2-40B4-BE49-F238E27FC236}">
                <a16:creationId xmlns:a16="http://schemas.microsoft.com/office/drawing/2014/main" id="{9FCEB2AB-2498-AFC0-45D6-FF4804AB9D8F}"/>
              </a:ext>
            </a:extLst>
          </p:cNvPr>
          <p:cNvSpPr txBox="1"/>
          <p:nvPr/>
        </p:nvSpPr>
        <p:spPr>
          <a:xfrm>
            <a:off x="1828800" y="1374001"/>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Social Media Presence</a:t>
            </a:r>
          </a:p>
        </p:txBody>
      </p:sp>
      <p:graphicFrame>
        <p:nvGraphicFramePr>
          <p:cNvPr id="6" name="Table 5">
            <a:extLst>
              <a:ext uri="{FF2B5EF4-FFF2-40B4-BE49-F238E27FC236}">
                <a16:creationId xmlns:a16="http://schemas.microsoft.com/office/drawing/2014/main" id="{31DC8DFB-D30F-26BF-D4C8-2056AE982B2A}"/>
              </a:ext>
            </a:extLst>
          </p:cNvPr>
          <p:cNvGraphicFramePr>
            <a:graphicFrameLocks noGrp="1"/>
          </p:cNvGraphicFramePr>
          <p:nvPr>
            <p:extLst>
              <p:ext uri="{D42A27DB-BD31-4B8C-83A1-F6EECF244321}">
                <p14:modId xmlns:p14="http://schemas.microsoft.com/office/powerpoint/2010/main" val="916817261"/>
              </p:ext>
            </p:extLst>
          </p:nvPr>
        </p:nvGraphicFramePr>
        <p:xfrm>
          <a:off x="1498150" y="1835666"/>
          <a:ext cx="6426650" cy="4208028"/>
        </p:xfrm>
        <a:graphic>
          <a:graphicData uri="http://schemas.openxmlformats.org/drawingml/2006/table">
            <a:tbl>
              <a:tblPr>
                <a:tableStyleId>{22838BEF-8BB2-4498-84A7-C5851F593DF1}</a:tableStyleId>
              </a:tblPr>
              <a:tblGrid>
                <a:gridCol w="3213325">
                  <a:extLst>
                    <a:ext uri="{9D8B030D-6E8A-4147-A177-3AD203B41FA5}">
                      <a16:colId xmlns:a16="http://schemas.microsoft.com/office/drawing/2014/main" val="1115264588"/>
                    </a:ext>
                  </a:extLst>
                </a:gridCol>
                <a:gridCol w="3213325">
                  <a:extLst>
                    <a:ext uri="{9D8B030D-6E8A-4147-A177-3AD203B41FA5}">
                      <a16:colId xmlns:a16="http://schemas.microsoft.com/office/drawing/2014/main" val="4043749835"/>
                    </a:ext>
                  </a:extLst>
                </a:gridCol>
              </a:tblGrid>
              <a:tr h="241108">
                <a:tc>
                  <a:txBody>
                    <a:bodyPr/>
                    <a:lstStyle/>
                    <a:p>
                      <a:pPr>
                        <a:buNone/>
                      </a:pPr>
                      <a:r>
                        <a:rPr lang="en-US" sz="2000" b="1">
                          <a:latin typeface="Times New Roman" panose="02020603050405020304" pitchFamily="18" charset="0"/>
                          <a:cs typeface="Times New Roman" panose="02020603050405020304" pitchFamily="18" charset="0"/>
                        </a:rPr>
                        <a:t>Platform</a:t>
                      </a:r>
                      <a:endParaRPr lang="en-US" sz="2000">
                        <a:latin typeface="Times New Roman" panose="02020603050405020304" pitchFamily="18" charset="0"/>
                        <a:cs typeface="Times New Roman" panose="02020603050405020304" pitchFamily="18" charset="0"/>
                      </a:endParaRPr>
                    </a:p>
                  </a:txBody>
                  <a:tcPr marL="60277" marR="60277" marT="30138" marB="30138" anchor="ctr"/>
                </a:tc>
                <a:tc>
                  <a:txBody>
                    <a:bodyPr/>
                    <a:lstStyle/>
                    <a:p>
                      <a:pPr>
                        <a:buNone/>
                      </a:pPr>
                      <a:r>
                        <a:rPr lang="en-US" sz="2000" b="1" dirty="0">
                          <a:latin typeface="Times New Roman" panose="02020603050405020304" pitchFamily="18" charset="0"/>
                          <a:cs typeface="Times New Roman" panose="02020603050405020304" pitchFamily="18" charset="0"/>
                        </a:rPr>
                        <a:t>Purpose</a:t>
                      </a:r>
                      <a:endParaRPr lang="en-US" sz="2000" dirty="0">
                        <a:latin typeface="Times New Roman" panose="02020603050405020304" pitchFamily="18" charset="0"/>
                        <a:cs typeface="Times New Roman" panose="02020603050405020304" pitchFamily="18" charset="0"/>
                      </a:endParaRPr>
                    </a:p>
                  </a:txBody>
                  <a:tcPr marL="60277" marR="60277" marT="30138" marB="30138" anchor="ctr"/>
                </a:tc>
                <a:extLst>
                  <a:ext uri="{0D108BD9-81ED-4DB2-BD59-A6C34878D82A}">
                    <a16:rowId xmlns:a16="http://schemas.microsoft.com/office/drawing/2014/main" val="1013881963"/>
                  </a:ext>
                </a:extLst>
              </a:tr>
              <a:tr h="783600">
                <a:tc>
                  <a:txBody>
                    <a:bodyPr/>
                    <a:lstStyle/>
                    <a:p>
                      <a:pPr>
                        <a:buNone/>
                      </a:pPr>
                      <a:r>
                        <a:rPr lang="en-US" sz="1800" dirty="0">
                          <a:latin typeface="Times New Roman" panose="02020603050405020304" pitchFamily="18" charset="0"/>
                          <a:cs typeface="Times New Roman" panose="02020603050405020304" pitchFamily="18" charset="0"/>
                        </a:rPr>
                        <a:t>LinkedIn</a:t>
                      </a:r>
                    </a:p>
                  </a:txBody>
                  <a:tcPr marL="60277" marR="60277" marT="30138" marB="30138" anchor="ctr"/>
                </a:tc>
                <a:tc>
                  <a:txBody>
                    <a:bodyPr/>
                    <a:lstStyle/>
                    <a:p>
                      <a:pPr>
                        <a:buNone/>
                      </a:pPr>
                      <a:r>
                        <a:rPr lang="en-US" sz="1800">
                          <a:latin typeface="Times New Roman" panose="02020603050405020304" pitchFamily="18" charset="0"/>
                          <a:cs typeface="Times New Roman" panose="02020603050405020304" pitchFamily="18" charset="0"/>
                        </a:rPr>
                        <a:t>Corporate updates, hiring, and professional networking.</a:t>
                      </a:r>
                    </a:p>
                  </a:txBody>
                  <a:tcPr marL="60277" marR="60277" marT="30138" marB="30138" anchor="ctr"/>
                </a:tc>
                <a:extLst>
                  <a:ext uri="{0D108BD9-81ED-4DB2-BD59-A6C34878D82A}">
                    <a16:rowId xmlns:a16="http://schemas.microsoft.com/office/drawing/2014/main" val="1904503728"/>
                  </a:ext>
                </a:extLst>
              </a:tr>
              <a:tr h="783600">
                <a:tc>
                  <a:txBody>
                    <a:bodyPr/>
                    <a:lstStyle/>
                    <a:p>
                      <a:pPr>
                        <a:buNone/>
                      </a:pPr>
                      <a:r>
                        <a:rPr lang="en-US" sz="1800">
                          <a:latin typeface="Times New Roman" panose="02020603050405020304" pitchFamily="18" charset="0"/>
                          <a:cs typeface="Times New Roman" panose="02020603050405020304" pitchFamily="18" charset="0"/>
                        </a:rPr>
                        <a:t>X (Twitter)</a:t>
                      </a:r>
                    </a:p>
                  </a:txBody>
                  <a:tcPr marL="60277" marR="60277" marT="30138" marB="30138" anchor="ctr"/>
                </a:tc>
                <a:tc>
                  <a:txBody>
                    <a:bodyPr/>
                    <a:lstStyle/>
                    <a:p>
                      <a:pPr>
                        <a:buNone/>
                      </a:pPr>
                      <a:r>
                        <a:rPr lang="en-US" sz="1800">
                          <a:latin typeface="Times New Roman" panose="02020603050405020304" pitchFamily="18" charset="0"/>
                          <a:cs typeface="Times New Roman" panose="02020603050405020304" pitchFamily="18" charset="0"/>
                        </a:rPr>
                        <a:t>Product announcements, customer support, and news.</a:t>
                      </a:r>
                    </a:p>
                  </a:txBody>
                  <a:tcPr marL="60277" marR="60277" marT="30138" marB="30138" anchor="ctr"/>
                </a:tc>
                <a:extLst>
                  <a:ext uri="{0D108BD9-81ED-4DB2-BD59-A6C34878D82A}">
                    <a16:rowId xmlns:a16="http://schemas.microsoft.com/office/drawing/2014/main" val="4221818277"/>
                  </a:ext>
                </a:extLst>
              </a:tr>
              <a:tr h="783600">
                <a:tc>
                  <a:txBody>
                    <a:bodyPr/>
                    <a:lstStyle/>
                    <a:p>
                      <a:pPr>
                        <a:buNone/>
                      </a:pPr>
                      <a:r>
                        <a:rPr lang="en-US" sz="1800">
                          <a:latin typeface="Times New Roman" panose="02020603050405020304" pitchFamily="18" charset="0"/>
                          <a:cs typeface="Times New Roman" panose="02020603050405020304" pitchFamily="18" charset="0"/>
                        </a:rPr>
                        <a:t>Facebook</a:t>
                      </a:r>
                    </a:p>
                  </a:txBody>
                  <a:tcPr marL="60277" marR="60277" marT="30138" marB="30138" anchor="ctr"/>
                </a:tc>
                <a:tc>
                  <a:txBody>
                    <a:bodyPr/>
                    <a:lstStyle/>
                    <a:p>
                      <a:pPr>
                        <a:buNone/>
                      </a:pPr>
                      <a:r>
                        <a:rPr lang="en-US" sz="1800">
                          <a:latin typeface="Times New Roman" panose="02020603050405020304" pitchFamily="18" charset="0"/>
                          <a:cs typeface="Times New Roman" panose="02020603050405020304" pitchFamily="18" charset="0"/>
                        </a:rPr>
                        <a:t>Community engagement and promotional content.</a:t>
                      </a:r>
                    </a:p>
                  </a:txBody>
                  <a:tcPr marL="60277" marR="60277" marT="30138" marB="30138" anchor="ctr"/>
                </a:tc>
                <a:extLst>
                  <a:ext uri="{0D108BD9-81ED-4DB2-BD59-A6C34878D82A}">
                    <a16:rowId xmlns:a16="http://schemas.microsoft.com/office/drawing/2014/main" val="2975996813"/>
                  </a:ext>
                </a:extLst>
              </a:tr>
              <a:tr h="602769">
                <a:tc>
                  <a:txBody>
                    <a:bodyPr/>
                    <a:lstStyle/>
                    <a:p>
                      <a:pPr>
                        <a:buNone/>
                      </a:pPr>
                      <a:r>
                        <a:rPr lang="en-US" sz="1800">
                          <a:latin typeface="Times New Roman" panose="02020603050405020304" pitchFamily="18" charset="0"/>
                          <a:cs typeface="Times New Roman" panose="02020603050405020304" pitchFamily="18" charset="0"/>
                        </a:rPr>
                        <a:t>Instagram</a:t>
                      </a:r>
                    </a:p>
                  </a:txBody>
                  <a:tcPr marL="60277" marR="60277" marT="30138" marB="30138" anchor="ctr"/>
                </a:tc>
                <a:tc>
                  <a:txBody>
                    <a:bodyPr/>
                    <a:lstStyle/>
                    <a:p>
                      <a:pPr>
                        <a:buNone/>
                      </a:pPr>
                      <a:r>
                        <a:rPr lang="en-US" sz="1800">
                          <a:latin typeface="Times New Roman" panose="02020603050405020304" pitchFamily="18" charset="0"/>
                          <a:cs typeface="Times New Roman" panose="02020603050405020304" pitchFamily="18" charset="0"/>
                        </a:rPr>
                        <a:t>Brand awareness, events, and company culture.</a:t>
                      </a:r>
                    </a:p>
                  </a:txBody>
                  <a:tcPr marL="60277" marR="60277" marT="30138" marB="30138" anchor="ctr"/>
                </a:tc>
                <a:extLst>
                  <a:ext uri="{0D108BD9-81ED-4DB2-BD59-A6C34878D82A}">
                    <a16:rowId xmlns:a16="http://schemas.microsoft.com/office/drawing/2014/main" val="4092845877"/>
                  </a:ext>
                </a:extLst>
              </a:tr>
              <a:tr h="783600">
                <a:tc>
                  <a:txBody>
                    <a:bodyPr/>
                    <a:lstStyle/>
                    <a:p>
                      <a:pPr>
                        <a:buNone/>
                      </a:pPr>
                      <a:r>
                        <a:rPr lang="en-US" sz="1800">
                          <a:latin typeface="Times New Roman" panose="02020603050405020304" pitchFamily="18" charset="0"/>
                          <a:cs typeface="Times New Roman" panose="02020603050405020304" pitchFamily="18" charset="0"/>
                        </a:rPr>
                        <a:t>YouTube</a:t>
                      </a:r>
                    </a:p>
                  </a:txBody>
                  <a:tcPr marL="60277" marR="60277" marT="30138" marB="30138" anchor="ctr"/>
                </a:tc>
                <a:tc>
                  <a:txBody>
                    <a:bodyPr/>
                    <a:lstStyle/>
                    <a:p>
                      <a:pPr>
                        <a:buNone/>
                      </a:pPr>
                      <a:r>
                        <a:rPr lang="en-US" sz="1800" dirty="0">
                          <a:latin typeface="Times New Roman" panose="02020603050405020304" pitchFamily="18" charset="0"/>
                          <a:cs typeface="Times New Roman" panose="02020603050405020304" pitchFamily="18" charset="0"/>
                        </a:rPr>
                        <a:t>Product demonstrations, webinars, tutorials, and training videos.</a:t>
                      </a:r>
                    </a:p>
                  </a:txBody>
                  <a:tcPr marL="60277" marR="60277" marT="30138" marB="30138" anchor="ctr"/>
                </a:tc>
                <a:extLst>
                  <a:ext uri="{0D108BD9-81ED-4DB2-BD59-A6C34878D82A}">
                    <a16:rowId xmlns:a16="http://schemas.microsoft.com/office/drawing/2014/main" val="2051678483"/>
                  </a:ext>
                </a:extLst>
              </a:tr>
            </a:tbl>
          </a:graphicData>
        </a:graphic>
      </p:graphicFrame>
    </p:spTree>
    <p:extLst>
      <p:ext uri="{BB962C8B-B14F-4D97-AF65-F5344CB8AC3E}">
        <p14:creationId xmlns:p14="http://schemas.microsoft.com/office/powerpoint/2010/main" val="1929970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BDE96-561E-23CB-0352-8CA42C424671}"/>
              </a:ext>
            </a:extLst>
          </p:cNvPr>
          <p:cNvSpPr>
            <a:spLocks noGrp="1"/>
          </p:cNvSpPr>
          <p:nvPr>
            <p:ph type="title"/>
          </p:nvPr>
        </p:nvSpPr>
        <p:spPr>
          <a:xfrm>
            <a:off x="521207" y="448056"/>
            <a:ext cx="9415273" cy="640080"/>
          </a:xfrm>
        </p:spPr>
        <p:txBody>
          <a:bodyPr>
            <a:noAutofit/>
          </a:bodyPr>
          <a:lstStyle/>
          <a:p>
            <a:r>
              <a:rPr lang="en-US" dirty="0">
                <a:latin typeface="Times New Roman" panose="02020603050405020304" pitchFamily="18" charset="0"/>
                <a:cs typeface="Times New Roman" panose="02020603050405020304" pitchFamily="18" charset="0"/>
              </a:rPr>
              <a:t>Internet Archive Analysis – Zoom Communications</a:t>
            </a:r>
          </a:p>
        </p:txBody>
      </p:sp>
      <p:graphicFrame>
        <p:nvGraphicFramePr>
          <p:cNvPr id="4" name="Table 3">
            <a:extLst>
              <a:ext uri="{FF2B5EF4-FFF2-40B4-BE49-F238E27FC236}">
                <a16:creationId xmlns:a16="http://schemas.microsoft.com/office/drawing/2014/main" id="{1750D9A9-BE7F-F70B-60D4-B791D7E875C8}"/>
              </a:ext>
            </a:extLst>
          </p:cNvPr>
          <p:cNvGraphicFramePr>
            <a:graphicFrameLocks noGrp="1"/>
          </p:cNvGraphicFramePr>
          <p:nvPr>
            <p:extLst>
              <p:ext uri="{D42A27DB-BD31-4B8C-83A1-F6EECF244321}">
                <p14:modId xmlns:p14="http://schemas.microsoft.com/office/powerpoint/2010/main" val="633343999"/>
              </p:ext>
            </p:extLst>
          </p:nvPr>
        </p:nvGraphicFramePr>
        <p:xfrm>
          <a:off x="702310" y="1275397"/>
          <a:ext cx="4416424" cy="1554480"/>
        </p:xfrm>
        <a:graphic>
          <a:graphicData uri="http://schemas.openxmlformats.org/drawingml/2006/table">
            <a:tbl>
              <a:tblPr>
                <a:tableStyleId>{22838BEF-8BB2-4498-84A7-C5851F593DF1}</a:tableStyleId>
              </a:tblPr>
              <a:tblGrid>
                <a:gridCol w="2208212">
                  <a:extLst>
                    <a:ext uri="{9D8B030D-6E8A-4147-A177-3AD203B41FA5}">
                      <a16:colId xmlns:a16="http://schemas.microsoft.com/office/drawing/2014/main" val="3909718749"/>
                    </a:ext>
                  </a:extLst>
                </a:gridCol>
                <a:gridCol w="2208212">
                  <a:extLst>
                    <a:ext uri="{9D8B030D-6E8A-4147-A177-3AD203B41FA5}">
                      <a16:colId xmlns:a16="http://schemas.microsoft.com/office/drawing/2014/main" val="4043386726"/>
                    </a:ext>
                  </a:extLst>
                </a:gridCol>
              </a:tblGrid>
              <a:tr h="365760">
                <a:tc>
                  <a:txBody>
                    <a:bodyPr/>
                    <a:lstStyle/>
                    <a:p>
                      <a:pPr>
                        <a:buNone/>
                      </a:pPr>
                      <a:r>
                        <a:rPr lang="en-US" sz="1800" b="1"/>
                        <a:t>Tool</a:t>
                      </a:r>
                      <a:endParaRPr lang="en-US" sz="1800"/>
                    </a:p>
                  </a:txBody>
                  <a:tcPr anchor="ctr"/>
                </a:tc>
                <a:tc>
                  <a:txBody>
                    <a:bodyPr/>
                    <a:lstStyle/>
                    <a:p>
                      <a:pPr>
                        <a:buNone/>
                      </a:pPr>
                      <a:r>
                        <a:rPr lang="en-US" sz="1800" b="1"/>
                        <a:t>Purpose</a:t>
                      </a:r>
                      <a:endParaRPr lang="en-US" sz="1800"/>
                    </a:p>
                  </a:txBody>
                  <a:tcPr anchor="ctr"/>
                </a:tc>
                <a:extLst>
                  <a:ext uri="{0D108BD9-81ED-4DB2-BD59-A6C34878D82A}">
                    <a16:rowId xmlns:a16="http://schemas.microsoft.com/office/drawing/2014/main" val="2585759289"/>
                  </a:ext>
                </a:extLst>
              </a:tr>
              <a:tr h="1188720">
                <a:tc>
                  <a:txBody>
                    <a:bodyPr/>
                    <a:lstStyle/>
                    <a:p>
                      <a:pPr>
                        <a:buNone/>
                      </a:pPr>
                      <a:r>
                        <a:rPr lang="en-US" sz="1800"/>
                        <a:t>Wayback Machine (Internet Archive)</a:t>
                      </a:r>
                    </a:p>
                  </a:txBody>
                  <a:tcPr anchor="ctr"/>
                </a:tc>
                <a:tc>
                  <a:txBody>
                    <a:bodyPr/>
                    <a:lstStyle/>
                    <a:p>
                      <a:pPr>
                        <a:buNone/>
                      </a:pPr>
                      <a:r>
                        <a:rPr lang="en-US" sz="1800" dirty="0"/>
                        <a:t>View archived versions of the Zoom website from previous years.</a:t>
                      </a:r>
                    </a:p>
                  </a:txBody>
                  <a:tcPr anchor="ctr"/>
                </a:tc>
                <a:extLst>
                  <a:ext uri="{0D108BD9-81ED-4DB2-BD59-A6C34878D82A}">
                    <a16:rowId xmlns:a16="http://schemas.microsoft.com/office/drawing/2014/main" val="280133658"/>
                  </a:ext>
                </a:extLst>
              </a:tr>
            </a:tbl>
          </a:graphicData>
        </a:graphic>
      </p:graphicFrame>
      <p:graphicFrame>
        <p:nvGraphicFramePr>
          <p:cNvPr id="6" name="Table 5">
            <a:extLst>
              <a:ext uri="{FF2B5EF4-FFF2-40B4-BE49-F238E27FC236}">
                <a16:creationId xmlns:a16="http://schemas.microsoft.com/office/drawing/2014/main" id="{7F2F7BA4-A598-9C2C-40C4-71ED2D0C46E9}"/>
              </a:ext>
            </a:extLst>
          </p:cNvPr>
          <p:cNvGraphicFramePr>
            <a:graphicFrameLocks noGrp="1"/>
          </p:cNvGraphicFramePr>
          <p:nvPr>
            <p:extLst>
              <p:ext uri="{D42A27DB-BD31-4B8C-83A1-F6EECF244321}">
                <p14:modId xmlns:p14="http://schemas.microsoft.com/office/powerpoint/2010/main" val="555095292"/>
              </p:ext>
            </p:extLst>
          </p:nvPr>
        </p:nvGraphicFramePr>
        <p:xfrm>
          <a:off x="5822646" y="1356677"/>
          <a:ext cx="5282234" cy="4879820"/>
        </p:xfrm>
        <a:graphic>
          <a:graphicData uri="http://schemas.openxmlformats.org/drawingml/2006/table">
            <a:tbl>
              <a:tblPr>
                <a:tableStyleId>{22838BEF-8BB2-4498-84A7-C5851F593DF1}</a:tableStyleId>
              </a:tblPr>
              <a:tblGrid>
                <a:gridCol w="2641117">
                  <a:extLst>
                    <a:ext uri="{9D8B030D-6E8A-4147-A177-3AD203B41FA5}">
                      <a16:colId xmlns:a16="http://schemas.microsoft.com/office/drawing/2014/main" val="1994494666"/>
                    </a:ext>
                  </a:extLst>
                </a:gridCol>
                <a:gridCol w="2641117">
                  <a:extLst>
                    <a:ext uri="{9D8B030D-6E8A-4147-A177-3AD203B41FA5}">
                      <a16:colId xmlns:a16="http://schemas.microsoft.com/office/drawing/2014/main" val="2652698832"/>
                    </a:ext>
                  </a:extLst>
                </a:gridCol>
              </a:tblGrid>
              <a:tr h="0">
                <a:tc>
                  <a:txBody>
                    <a:bodyPr/>
                    <a:lstStyle/>
                    <a:p>
                      <a:pPr>
                        <a:buNone/>
                      </a:pPr>
                      <a:r>
                        <a:rPr lang="en-US" sz="2000" b="1">
                          <a:latin typeface="Times New Roman" panose="02020603050405020304" pitchFamily="18" charset="0"/>
                          <a:cs typeface="Times New Roman" panose="02020603050405020304" pitchFamily="18" charset="0"/>
                        </a:rPr>
                        <a:t>Time Period</a:t>
                      </a:r>
                      <a:endParaRPr lang="en-US" sz="2000">
                        <a:latin typeface="Times New Roman" panose="02020603050405020304" pitchFamily="18" charset="0"/>
                        <a:cs typeface="Times New Roman" panose="02020603050405020304" pitchFamily="18" charset="0"/>
                      </a:endParaRPr>
                    </a:p>
                  </a:txBody>
                  <a:tcPr marL="37180" marR="37180" marT="18590" marB="18590" anchor="ctr"/>
                </a:tc>
                <a:tc>
                  <a:txBody>
                    <a:bodyPr/>
                    <a:lstStyle/>
                    <a:p>
                      <a:pPr>
                        <a:buNone/>
                      </a:pPr>
                      <a:r>
                        <a:rPr lang="en-US" sz="2000" b="1" dirty="0">
                          <a:latin typeface="Times New Roman" panose="02020603050405020304" pitchFamily="18" charset="0"/>
                          <a:cs typeface="Times New Roman" panose="02020603050405020304" pitchFamily="18" charset="0"/>
                        </a:rPr>
                        <a:t>Observations</a:t>
                      </a:r>
                      <a:endParaRPr lang="en-US" sz="2000" dirty="0">
                        <a:latin typeface="Times New Roman" panose="02020603050405020304" pitchFamily="18" charset="0"/>
                        <a:cs typeface="Times New Roman" panose="02020603050405020304" pitchFamily="18" charset="0"/>
                      </a:endParaRPr>
                    </a:p>
                  </a:txBody>
                  <a:tcPr marL="37180" marR="37180" marT="18590" marB="18590" anchor="ctr"/>
                </a:tc>
                <a:extLst>
                  <a:ext uri="{0D108BD9-81ED-4DB2-BD59-A6C34878D82A}">
                    <a16:rowId xmlns:a16="http://schemas.microsoft.com/office/drawing/2014/main" val="913537044"/>
                  </a:ext>
                </a:extLst>
              </a:tr>
              <a:tr h="706423">
                <a:tc>
                  <a:txBody>
                    <a:bodyPr/>
                    <a:lstStyle/>
                    <a:p>
                      <a:pPr>
                        <a:buNone/>
                      </a:pPr>
                      <a:r>
                        <a:rPr lang="en-US" sz="1600" dirty="0">
                          <a:latin typeface="Times New Roman" panose="02020603050405020304" pitchFamily="18" charset="0"/>
                          <a:cs typeface="Times New Roman" panose="02020603050405020304" pitchFamily="18" charset="0"/>
                        </a:rPr>
                        <a:t>Early Years</a:t>
                      </a:r>
                    </a:p>
                  </a:txBody>
                  <a:tcPr marL="37180" marR="37180" marT="18590" marB="18590" anchor="ctr"/>
                </a:tc>
                <a:tc>
                  <a:txBody>
                    <a:bodyPr/>
                    <a:lstStyle/>
                    <a:p>
                      <a:pPr>
                        <a:buNone/>
                      </a:pPr>
                      <a:r>
                        <a:rPr lang="en-US" sz="1600" dirty="0">
                          <a:latin typeface="Times New Roman" panose="02020603050405020304" pitchFamily="18" charset="0"/>
                          <a:cs typeface="Times New Roman" panose="02020603050405020304" pitchFamily="18" charset="0"/>
                        </a:rPr>
                        <a:t>The website focused mainly on video conferencing and online meetings with a simple design.</a:t>
                      </a:r>
                    </a:p>
                  </a:txBody>
                  <a:tcPr marL="37180" marR="37180" marT="18590" marB="18590" anchor="ctr"/>
                </a:tc>
                <a:extLst>
                  <a:ext uri="{0D108BD9-81ED-4DB2-BD59-A6C34878D82A}">
                    <a16:rowId xmlns:a16="http://schemas.microsoft.com/office/drawing/2014/main" val="218404718"/>
                  </a:ext>
                </a:extLst>
              </a:tr>
              <a:tr h="817963">
                <a:tc>
                  <a:txBody>
                    <a:bodyPr/>
                    <a:lstStyle/>
                    <a:p>
                      <a:pPr>
                        <a:buNone/>
                      </a:pPr>
                      <a:r>
                        <a:rPr lang="en-US" sz="1600" dirty="0">
                          <a:latin typeface="Times New Roman" panose="02020603050405020304" pitchFamily="18" charset="0"/>
                          <a:cs typeface="Times New Roman" panose="02020603050405020304" pitchFamily="18" charset="0"/>
                        </a:rPr>
                        <a:t>Growth Phase</a:t>
                      </a:r>
                    </a:p>
                  </a:txBody>
                  <a:tcPr marL="37180" marR="37180" marT="18590" marB="18590" anchor="ctr"/>
                </a:tc>
                <a:tc>
                  <a:txBody>
                    <a:bodyPr/>
                    <a:lstStyle/>
                    <a:p>
                      <a:pPr>
                        <a:buNone/>
                      </a:pPr>
                      <a:r>
                        <a:rPr lang="en-US" sz="1600" dirty="0">
                          <a:latin typeface="Times New Roman" panose="02020603050405020304" pitchFamily="18" charset="0"/>
                          <a:cs typeface="Times New Roman" panose="02020603050405020304" pitchFamily="18" charset="0"/>
                        </a:rPr>
                        <a:t>Additional collaboration features, webinars, and cloud communication services were introduced.</a:t>
                      </a:r>
                    </a:p>
                  </a:txBody>
                  <a:tcPr marL="37180" marR="37180" marT="18590" marB="18590" anchor="ctr"/>
                </a:tc>
                <a:extLst>
                  <a:ext uri="{0D108BD9-81ED-4DB2-BD59-A6C34878D82A}">
                    <a16:rowId xmlns:a16="http://schemas.microsoft.com/office/drawing/2014/main" val="3333365350"/>
                  </a:ext>
                </a:extLst>
              </a:tr>
              <a:tr h="929503">
                <a:tc>
                  <a:txBody>
                    <a:bodyPr/>
                    <a:lstStyle/>
                    <a:p>
                      <a:pPr>
                        <a:buNone/>
                      </a:pPr>
                      <a:r>
                        <a:rPr lang="en-US" sz="1600" dirty="0">
                          <a:latin typeface="Times New Roman" panose="02020603050405020304" pitchFamily="18" charset="0"/>
                          <a:cs typeface="Times New Roman" panose="02020603050405020304" pitchFamily="18" charset="0"/>
                        </a:rPr>
                        <a:t>Pandemic Period</a:t>
                      </a:r>
                    </a:p>
                  </a:txBody>
                  <a:tcPr marL="37180" marR="37180" marT="18590" marB="18590" anchor="ctr"/>
                </a:tc>
                <a:tc>
                  <a:txBody>
                    <a:bodyPr/>
                    <a:lstStyle/>
                    <a:p>
                      <a:pPr>
                        <a:buNone/>
                      </a:pPr>
                      <a:r>
                        <a:rPr lang="en-US" sz="1600" dirty="0">
                          <a:latin typeface="Times New Roman" panose="02020603050405020304" pitchFamily="18" charset="0"/>
                          <a:cs typeface="Times New Roman" panose="02020603050405020304" pitchFamily="18" charset="0"/>
                        </a:rPr>
                        <a:t>The homepage highlighted remote work, online education, and virtual meetings, with significant increases in support resources.</a:t>
                      </a:r>
                    </a:p>
                  </a:txBody>
                  <a:tcPr marL="37180" marR="37180" marT="18590" marB="18590" anchor="ctr"/>
                </a:tc>
                <a:extLst>
                  <a:ext uri="{0D108BD9-81ED-4DB2-BD59-A6C34878D82A}">
                    <a16:rowId xmlns:a16="http://schemas.microsoft.com/office/drawing/2014/main" val="861021687"/>
                  </a:ext>
                </a:extLst>
              </a:tr>
              <a:tr h="1375665">
                <a:tc>
                  <a:txBody>
                    <a:bodyPr/>
                    <a:lstStyle/>
                    <a:p>
                      <a:pPr>
                        <a:buNone/>
                      </a:pPr>
                      <a:r>
                        <a:rPr lang="en-US" sz="1600">
                          <a:latin typeface="Times New Roman" panose="02020603050405020304" pitchFamily="18" charset="0"/>
                          <a:cs typeface="Times New Roman" panose="02020603050405020304" pitchFamily="18" charset="0"/>
                        </a:rPr>
                        <a:t>Recent Versions</a:t>
                      </a:r>
                    </a:p>
                  </a:txBody>
                  <a:tcPr marL="37180" marR="37180" marT="18590" marB="18590" anchor="ctr"/>
                </a:tc>
                <a:tc>
                  <a:txBody>
                    <a:bodyPr/>
                    <a:lstStyle/>
                    <a:p>
                      <a:pPr>
                        <a:buNone/>
                      </a:pPr>
                      <a:r>
                        <a:rPr lang="en-US" sz="1600" dirty="0">
                          <a:latin typeface="Times New Roman" panose="02020603050405020304" pitchFamily="18" charset="0"/>
                          <a:cs typeface="Times New Roman" panose="02020603050405020304" pitchFamily="18" charset="0"/>
                        </a:rPr>
                        <a:t>The website emphasizes AI-powered collaboration, Zoom Workplace, Zoom AI Companion, customer experience solutions, and enhanced security features.</a:t>
                      </a:r>
                    </a:p>
                  </a:txBody>
                  <a:tcPr marL="37180" marR="37180" marT="18590" marB="18590" anchor="ctr"/>
                </a:tc>
                <a:extLst>
                  <a:ext uri="{0D108BD9-81ED-4DB2-BD59-A6C34878D82A}">
                    <a16:rowId xmlns:a16="http://schemas.microsoft.com/office/drawing/2014/main" val="297591088"/>
                  </a:ext>
                </a:extLst>
              </a:tr>
            </a:tbl>
          </a:graphicData>
        </a:graphic>
      </p:graphicFrame>
    </p:spTree>
    <p:extLst>
      <p:ext uri="{BB962C8B-B14F-4D97-AF65-F5344CB8AC3E}">
        <p14:creationId xmlns:p14="http://schemas.microsoft.com/office/powerpoint/2010/main" val="2504964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F24DE-3B98-A0ED-07E4-73C0D96B58CD}"/>
              </a:ext>
            </a:extLst>
          </p:cNvPr>
          <p:cNvSpPr>
            <a:spLocks noGrp="1"/>
          </p:cNvSpPr>
          <p:nvPr>
            <p:ph type="title"/>
          </p:nvPr>
        </p:nvSpPr>
        <p:spPr>
          <a:xfrm>
            <a:off x="521207" y="448056"/>
            <a:ext cx="8734553" cy="640080"/>
          </a:xfrm>
        </p:spPr>
        <p:txBody>
          <a:bodyPr>
            <a:normAutofit/>
          </a:bodyPr>
          <a:lstStyle/>
          <a:p>
            <a:r>
              <a:rPr lang="en-US" dirty="0">
                <a:latin typeface="Times New Roman" panose="02020603050405020304" pitchFamily="18" charset="0"/>
                <a:cs typeface="Times New Roman" panose="02020603050405020304" pitchFamily="18" charset="0"/>
              </a:rPr>
              <a:t>                          Security– Zoom Communications</a:t>
            </a:r>
          </a:p>
        </p:txBody>
      </p:sp>
      <p:sp>
        <p:nvSpPr>
          <p:cNvPr id="5" name="TextBox 4">
            <a:extLst>
              <a:ext uri="{FF2B5EF4-FFF2-40B4-BE49-F238E27FC236}">
                <a16:creationId xmlns:a16="http://schemas.microsoft.com/office/drawing/2014/main" id="{0A9803B3-3D30-C2E7-3A3C-41A646325EE3}"/>
              </a:ext>
            </a:extLst>
          </p:cNvPr>
          <p:cNvSpPr txBox="1"/>
          <p:nvPr/>
        </p:nvSpPr>
        <p:spPr>
          <a:xfrm>
            <a:off x="2499360" y="1302881"/>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          Security Findings</a:t>
            </a:r>
          </a:p>
        </p:txBody>
      </p:sp>
      <p:graphicFrame>
        <p:nvGraphicFramePr>
          <p:cNvPr id="6" name="Table 5">
            <a:extLst>
              <a:ext uri="{FF2B5EF4-FFF2-40B4-BE49-F238E27FC236}">
                <a16:creationId xmlns:a16="http://schemas.microsoft.com/office/drawing/2014/main" id="{39C88494-2EEF-BE51-7C7F-330A1C679B02}"/>
              </a:ext>
            </a:extLst>
          </p:cNvPr>
          <p:cNvGraphicFramePr>
            <a:graphicFrameLocks noGrp="1"/>
          </p:cNvGraphicFramePr>
          <p:nvPr>
            <p:extLst>
              <p:ext uri="{D42A27DB-BD31-4B8C-83A1-F6EECF244321}">
                <p14:modId xmlns:p14="http://schemas.microsoft.com/office/powerpoint/2010/main" val="3406887041"/>
              </p:ext>
            </p:extLst>
          </p:nvPr>
        </p:nvGraphicFramePr>
        <p:xfrm>
          <a:off x="1808012" y="1764546"/>
          <a:ext cx="7153108" cy="4674483"/>
        </p:xfrm>
        <a:graphic>
          <a:graphicData uri="http://schemas.openxmlformats.org/drawingml/2006/table">
            <a:tbl>
              <a:tblPr>
                <a:tableStyleId>{22838BEF-8BB2-4498-84A7-C5851F593DF1}</a:tableStyleId>
              </a:tblPr>
              <a:tblGrid>
                <a:gridCol w="3576554">
                  <a:extLst>
                    <a:ext uri="{9D8B030D-6E8A-4147-A177-3AD203B41FA5}">
                      <a16:colId xmlns:a16="http://schemas.microsoft.com/office/drawing/2014/main" val="2112049818"/>
                    </a:ext>
                  </a:extLst>
                </a:gridCol>
                <a:gridCol w="3576554">
                  <a:extLst>
                    <a:ext uri="{9D8B030D-6E8A-4147-A177-3AD203B41FA5}">
                      <a16:colId xmlns:a16="http://schemas.microsoft.com/office/drawing/2014/main" val="2900326965"/>
                    </a:ext>
                  </a:extLst>
                </a:gridCol>
              </a:tblGrid>
              <a:tr h="196334">
                <a:tc>
                  <a:txBody>
                    <a:bodyPr/>
                    <a:lstStyle/>
                    <a:p>
                      <a:pPr>
                        <a:buNone/>
                      </a:pPr>
                      <a:r>
                        <a:rPr lang="en-US" sz="2000" b="1">
                          <a:latin typeface="Times New Roman" panose="02020603050405020304" pitchFamily="18" charset="0"/>
                          <a:cs typeface="Times New Roman" panose="02020603050405020304" pitchFamily="18" charset="0"/>
                        </a:rPr>
                        <a:t>Security Feature</a:t>
                      </a:r>
                      <a:endParaRPr lang="en-US" sz="2000">
                        <a:latin typeface="Times New Roman" panose="02020603050405020304" pitchFamily="18" charset="0"/>
                        <a:cs typeface="Times New Roman" panose="02020603050405020304" pitchFamily="18" charset="0"/>
                      </a:endParaRPr>
                    </a:p>
                  </a:txBody>
                  <a:tcPr marL="40185" marR="40185" marT="20092" marB="20092" anchor="ctr"/>
                </a:tc>
                <a:tc>
                  <a:txBody>
                    <a:bodyPr/>
                    <a:lstStyle/>
                    <a:p>
                      <a:pPr>
                        <a:buNone/>
                      </a:pPr>
                      <a:r>
                        <a:rPr lang="en-US" sz="2000" b="1" dirty="0">
                          <a:latin typeface="Times New Roman" panose="02020603050405020304" pitchFamily="18" charset="0"/>
                          <a:cs typeface="Times New Roman" panose="02020603050405020304" pitchFamily="18" charset="0"/>
                        </a:rPr>
                        <a:t>Observation</a:t>
                      </a:r>
                      <a:endParaRPr lang="en-US" sz="2000" dirty="0">
                        <a:latin typeface="Times New Roman" panose="02020603050405020304" pitchFamily="18" charset="0"/>
                        <a:cs typeface="Times New Roman" panose="02020603050405020304" pitchFamily="18" charset="0"/>
                      </a:endParaRPr>
                    </a:p>
                  </a:txBody>
                  <a:tcPr marL="40185" marR="40185" marT="20092" marB="20092" anchor="ctr"/>
                </a:tc>
                <a:extLst>
                  <a:ext uri="{0D108BD9-81ED-4DB2-BD59-A6C34878D82A}">
                    <a16:rowId xmlns:a16="http://schemas.microsoft.com/office/drawing/2014/main" val="2306803520"/>
                  </a:ext>
                </a:extLst>
              </a:tr>
              <a:tr h="452759">
                <a:tc>
                  <a:txBody>
                    <a:bodyPr/>
                    <a:lstStyle/>
                    <a:p>
                      <a:pPr>
                        <a:buNone/>
                      </a:pPr>
                      <a:r>
                        <a:rPr lang="en-US" sz="1400" dirty="0">
                          <a:latin typeface="Times New Roman" panose="02020603050405020304" pitchFamily="18" charset="0"/>
                          <a:cs typeface="Times New Roman" panose="02020603050405020304" pitchFamily="18" charset="0"/>
                        </a:rPr>
                        <a:t>HTTPS</a:t>
                      </a:r>
                    </a:p>
                  </a:txBody>
                  <a:tcPr marL="40185" marR="40185" marT="20092" marB="20092" anchor="ctr"/>
                </a:tc>
                <a:tc>
                  <a:txBody>
                    <a:bodyPr/>
                    <a:lstStyle/>
                    <a:p>
                      <a:pPr>
                        <a:buNone/>
                      </a:pPr>
                      <a:r>
                        <a:rPr lang="en-US" sz="1400" dirty="0">
                          <a:latin typeface="Times New Roman" panose="02020603050405020304" pitchFamily="18" charset="0"/>
                          <a:cs typeface="Times New Roman" panose="02020603050405020304" pitchFamily="18" charset="0"/>
                        </a:rPr>
                        <a:t>Enabled across the website to encrypt communication.</a:t>
                      </a:r>
                    </a:p>
                  </a:txBody>
                  <a:tcPr marL="40185" marR="40185" marT="20092" marB="20092" anchor="ctr"/>
                </a:tc>
                <a:extLst>
                  <a:ext uri="{0D108BD9-81ED-4DB2-BD59-A6C34878D82A}">
                    <a16:rowId xmlns:a16="http://schemas.microsoft.com/office/drawing/2014/main" val="2161538865"/>
                  </a:ext>
                </a:extLst>
              </a:tr>
              <a:tr h="452759">
                <a:tc>
                  <a:txBody>
                    <a:bodyPr/>
                    <a:lstStyle/>
                    <a:p>
                      <a:pPr>
                        <a:buNone/>
                      </a:pPr>
                      <a:r>
                        <a:rPr lang="en-US" sz="1400">
                          <a:latin typeface="Times New Roman" panose="02020603050405020304" pitchFamily="18" charset="0"/>
                          <a:cs typeface="Times New Roman" panose="02020603050405020304" pitchFamily="18" charset="0"/>
                        </a:rPr>
                        <a:t>SSL/TLS Certificate</a:t>
                      </a:r>
                    </a:p>
                  </a:txBody>
                  <a:tcPr marL="40185" marR="40185" marT="20092" marB="20092" anchor="ctr"/>
                </a:tc>
                <a:tc>
                  <a:txBody>
                    <a:bodyPr/>
                    <a:lstStyle/>
                    <a:p>
                      <a:pPr>
                        <a:buNone/>
                      </a:pPr>
                      <a:r>
                        <a:rPr lang="en-US" sz="1400">
                          <a:latin typeface="Times New Roman" panose="02020603050405020304" pitchFamily="18" charset="0"/>
                          <a:cs typeface="Times New Roman" panose="02020603050405020304" pitchFamily="18" charset="0"/>
                        </a:rPr>
                        <a:t>Valid SSL/TLS certificate used for secure connections.</a:t>
                      </a:r>
                    </a:p>
                  </a:txBody>
                  <a:tcPr marL="40185" marR="40185" marT="20092" marB="20092" anchor="ctr"/>
                </a:tc>
                <a:extLst>
                  <a:ext uri="{0D108BD9-81ED-4DB2-BD59-A6C34878D82A}">
                    <a16:rowId xmlns:a16="http://schemas.microsoft.com/office/drawing/2014/main" val="757182356"/>
                  </a:ext>
                </a:extLst>
              </a:tr>
              <a:tr h="316931">
                <a:tc>
                  <a:txBody>
                    <a:bodyPr/>
                    <a:lstStyle/>
                    <a:p>
                      <a:pPr>
                        <a:buNone/>
                      </a:pPr>
                      <a:r>
                        <a:rPr lang="en-US" sz="1400">
                          <a:latin typeface="Times New Roman" panose="02020603050405020304" pitchFamily="18" charset="0"/>
                          <a:cs typeface="Times New Roman" panose="02020603050405020304" pitchFamily="18" charset="0"/>
                        </a:rPr>
                        <a:t>Privacy Policy</a:t>
                      </a:r>
                    </a:p>
                  </a:txBody>
                  <a:tcPr marL="40185" marR="40185" marT="20092" marB="20092" anchor="ctr"/>
                </a:tc>
                <a:tc>
                  <a:txBody>
                    <a:bodyPr/>
                    <a:lstStyle/>
                    <a:p>
                      <a:pPr>
                        <a:buNone/>
                      </a:pPr>
                      <a:r>
                        <a:rPr lang="en-US" sz="1400">
                          <a:latin typeface="Times New Roman" panose="02020603050405020304" pitchFamily="18" charset="0"/>
                          <a:cs typeface="Times New Roman" panose="02020603050405020304" pitchFamily="18" charset="0"/>
                        </a:rPr>
                        <a:t>Publicly available for users.</a:t>
                      </a:r>
                    </a:p>
                  </a:txBody>
                  <a:tcPr marL="40185" marR="40185" marT="20092" marB="20092" anchor="ctr"/>
                </a:tc>
                <a:extLst>
                  <a:ext uri="{0D108BD9-81ED-4DB2-BD59-A6C34878D82A}">
                    <a16:rowId xmlns:a16="http://schemas.microsoft.com/office/drawing/2014/main" val="3891537"/>
                  </a:ext>
                </a:extLst>
              </a:tr>
              <a:tr h="316931">
                <a:tc>
                  <a:txBody>
                    <a:bodyPr/>
                    <a:lstStyle/>
                    <a:p>
                      <a:pPr>
                        <a:buNone/>
                      </a:pPr>
                      <a:r>
                        <a:rPr lang="en-US" sz="1400">
                          <a:latin typeface="Times New Roman" panose="02020603050405020304" pitchFamily="18" charset="0"/>
                          <a:cs typeface="Times New Roman" panose="02020603050405020304" pitchFamily="18" charset="0"/>
                        </a:rPr>
                        <a:t>Cookie Policy</a:t>
                      </a:r>
                    </a:p>
                  </a:txBody>
                  <a:tcPr marL="40185" marR="40185" marT="20092" marB="20092" anchor="ctr"/>
                </a:tc>
                <a:tc>
                  <a:txBody>
                    <a:bodyPr/>
                    <a:lstStyle/>
                    <a:p>
                      <a:pPr>
                        <a:buNone/>
                      </a:pPr>
                      <a:r>
                        <a:rPr lang="en-US" sz="1400">
                          <a:latin typeface="Times New Roman" panose="02020603050405020304" pitchFamily="18" charset="0"/>
                          <a:cs typeface="Times New Roman" panose="02020603050405020304" pitchFamily="18" charset="0"/>
                        </a:rPr>
                        <a:t>Available and accessible.</a:t>
                      </a:r>
                    </a:p>
                  </a:txBody>
                  <a:tcPr marL="40185" marR="40185" marT="20092" marB="20092" anchor="ctr"/>
                </a:tc>
                <a:extLst>
                  <a:ext uri="{0D108BD9-81ED-4DB2-BD59-A6C34878D82A}">
                    <a16:rowId xmlns:a16="http://schemas.microsoft.com/office/drawing/2014/main" val="431372762"/>
                  </a:ext>
                </a:extLst>
              </a:tr>
              <a:tr h="588587">
                <a:tc>
                  <a:txBody>
                    <a:bodyPr/>
                    <a:lstStyle/>
                    <a:p>
                      <a:pPr>
                        <a:buNone/>
                      </a:pPr>
                      <a:r>
                        <a:rPr lang="en-US" sz="1400">
                          <a:latin typeface="Times New Roman" panose="02020603050405020304" pitchFamily="18" charset="0"/>
                          <a:cs typeface="Times New Roman" panose="02020603050405020304" pitchFamily="18" charset="0"/>
                        </a:rPr>
                        <a:t>Trust Center</a:t>
                      </a:r>
                    </a:p>
                  </a:txBody>
                  <a:tcPr marL="40185" marR="40185" marT="20092" marB="20092" anchor="ctr"/>
                </a:tc>
                <a:tc>
                  <a:txBody>
                    <a:bodyPr/>
                    <a:lstStyle/>
                    <a:p>
                      <a:pPr>
                        <a:buNone/>
                      </a:pPr>
                      <a:r>
                        <a:rPr lang="en-US" sz="1400">
                          <a:latin typeface="Times New Roman" panose="02020603050405020304" pitchFamily="18" charset="0"/>
                          <a:cs typeface="Times New Roman" panose="02020603050405020304" pitchFamily="18" charset="0"/>
                        </a:rPr>
                        <a:t>Provides information on security, privacy, and compliance.</a:t>
                      </a:r>
                    </a:p>
                  </a:txBody>
                  <a:tcPr marL="40185" marR="40185" marT="20092" marB="20092" anchor="ctr"/>
                </a:tc>
                <a:extLst>
                  <a:ext uri="{0D108BD9-81ED-4DB2-BD59-A6C34878D82A}">
                    <a16:rowId xmlns:a16="http://schemas.microsoft.com/office/drawing/2014/main" val="3331634173"/>
                  </a:ext>
                </a:extLst>
              </a:tr>
              <a:tr h="724414">
                <a:tc>
                  <a:txBody>
                    <a:bodyPr/>
                    <a:lstStyle/>
                    <a:p>
                      <a:pPr>
                        <a:buNone/>
                      </a:pPr>
                      <a:r>
                        <a:rPr lang="en-US" sz="1400">
                          <a:latin typeface="Times New Roman" panose="02020603050405020304" pitchFamily="18" charset="0"/>
                          <a:cs typeface="Times New Roman" panose="02020603050405020304" pitchFamily="18" charset="0"/>
                        </a:rPr>
                        <a:t>Secure Authentication</a:t>
                      </a:r>
                    </a:p>
                  </a:txBody>
                  <a:tcPr marL="40185" marR="40185" marT="20092" marB="20092" anchor="ctr"/>
                </a:tc>
                <a:tc>
                  <a:txBody>
                    <a:bodyPr/>
                    <a:lstStyle/>
                    <a:p>
                      <a:pPr>
                        <a:buNone/>
                      </a:pPr>
                      <a:r>
                        <a:rPr lang="en-US" sz="1400" dirty="0">
                          <a:latin typeface="Times New Roman" panose="02020603050405020304" pitchFamily="18" charset="0"/>
                          <a:cs typeface="Times New Roman" panose="02020603050405020304" pitchFamily="18" charset="0"/>
                        </a:rPr>
                        <a:t>User login is protected through secure authentication mechanisms.</a:t>
                      </a:r>
                    </a:p>
                  </a:txBody>
                  <a:tcPr marL="40185" marR="40185" marT="20092" marB="20092" anchor="ctr"/>
                </a:tc>
                <a:extLst>
                  <a:ext uri="{0D108BD9-81ED-4DB2-BD59-A6C34878D82A}">
                    <a16:rowId xmlns:a16="http://schemas.microsoft.com/office/drawing/2014/main" val="492559804"/>
                  </a:ext>
                </a:extLst>
              </a:tr>
              <a:tr h="724414">
                <a:tc>
                  <a:txBody>
                    <a:bodyPr/>
                    <a:lstStyle/>
                    <a:p>
                      <a:pPr>
                        <a:buNone/>
                      </a:pPr>
                      <a:r>
                        <a:rPr lang="en-US" sz="1400">
                          <a:latin typeface="Times New Roman" panose="02020603050405020304" pitchFamily="18" charset="0"/>
                          <a:cs typeface="Times New Roman" panose="02020603050405020304" pitchFamily="18" charset="0"/>
                        </a:rPr>
                        <a:t>Responsible Disclosure</a:t>
                      </a:r>
                    </a:p>
                  </a:txBody>
                  <a:tcPr marL="40185" marR="40185" marT="20092" marB="20092" anchor="ctr"/>
                </a:tc>
                <a:tc>
                  <a:txBody>
                    <a:bodyPr/>
                    <a:lstStyle/>
                    <a:p>
                      <a:pPr>
                        <a:buNone/>
                      </a:pPr>
                      <a:r>
                        <a:rPr lang="en-US" sz="1400">
                          <a:latin typeface="Times New Roman" panose="02020603050405020304" pitchFamily="18" charset="0"/>
                          <a:cs typeface="Times New Roman" panose="02020603050405020304" pitchFamily="18" charset="0"/>
                        </a:rPr>
                        <a:t>Security vulnerability reporting information is publicly available.</a:t>
                      </a:r>
                    </a:p>
                  </a:txBody>
                  <a:tcPr marL="40185" marR="40185" marT="20092" marB="20092" anchor="ctr"/>
                </a:tc>
                <a:extLst>
                  <a:ext uri="{0D108BD9-81ED-4DB2-BD59-A6C34878D82A}">
                    <a16:rowId xmlns:a16="http://schemas.microsoft.com/office/drawing/2014/main" val="3870506821"/>
                  </a:ext>
                </a:extLst>
              </a:tr>
              <a:tr h="724414">
                <a:tc>
                  <a:txBody>
                    <a:bodyPr/>
                    <a:lstStyle/>
                    <a:p>
                      <a:pPr>
                        <a:buNone/>
                      </a:pPr>
                      <a:r>
                        <a:rPr lang="en-US" sz="1400" dirty="0">
                          <a:latin typeface="Times New Roman" panose="02020603050405020304" pitchFamily="18" charset="0"/>
                          <a:cs typeface="Times New Roman" panose="02020603050405020304" pitchFamily="18" charset="0"/>
                        </a:rPr>
                        <a:t>Data Encryption</a:t>
                      </a:r>
                    </a:p>
                  </a:txBody>
                  <a:tcPr marL="40185" marR="40185" marT="20092" marB="20092" anchor="ctr"/>
                </a:tc>
                <a:tc>
                  <a:txBody>
                    <a:bodyPr/>
                    <a:lstStyle/>
                    <a:p>
                      <a:pPr>
                        <a:buNone/>
                      </a:pPr>
                      <a:r>
                        <a:rPr lang="en-US" sz="1400" dirty="0">
                          <a:latin typeface="Times New Roman" panose="02020603050405020304" pitchFamily="18" charset="0"/>
                          <a:cs typeface="Times New Roman" panose="02020603050405020304" pitchFamily="18" charset="0"/>
                        </a:rPr>
                        <a:t>Data transmitted between users and the website is encrypted using HTTPS.</a:t>
                      </a:r>
                    </a:p>
                  </a:txBody>
                  <a:tcPr marL="40185" marR="40185" marT="20092" marB="20092" anchor="ctr"/>
                </a:tc>
                <a:extLst>
                  <a:ext uri="{0D108BD9-81ED-4DB2-BD59-A6C34878D82A}">
                    <a16:rowId xmlns:a16="http://schemas.microsoft.com/office/drawing/2014/main" val="2390696806"/>
                  </a:ext>
                </a:extLst>
              </a:tr>
            </a:tbl>
          </a:graphicData>
        </a:graphic>
      </p:graphicFrame>
    </p:spTree>
    <p:extLst>
      <p:ext uri="{BB962C8B-B14F-4D97-AF65-F5344CB8AC3E}">
        <p14:creationId xmlns:p14="http://schemas.microsoft.com/office/powerpoint/2010/main" val="1826852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BF55D-BC8A-4167-C705-6127726DEF87}"/>
              </a:ext>
            </a:extLst>
          </p:cNvPr>
          <p:cNvSpPr>
            <a:spLocks noGrp="1"/>
          </p:cNvSpPr>
          <p:nvPr>
            <p:ph type="title"/>
          </p:nvPr>
        </p:nvSpPr>
        <p:spPr>
          <a:xfrm>
            <a:off x="2535936" y="2788920"/>
            <a:ext cx="6876288" cy="640080"/>
          </a:xfrm>
        </p:spPr>
        <p:txBody>
          <a:bodyPr>
            <a:normAutofit/>
          </a:bodyPr>
          <a:lstStyle/>
          <a:p>
            <a:r>
              <a:rPr lang="en-US" sz="3200" dirty="0">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1824119082"/>
      </p:ext>
    </p:extLst>
  </p:cSld>
  <p:clrMapOvr>
    <a:masterClrMapping/>
  </p:clrMapOvr>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 v2" id="{08D89365-2E4C-432D-9349-8DF9B80AEEA1}" vid="{010FF314-90DF-4A21-BD0D-ADCBA3423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63EE24-83AF-4B4D-B45B-11D1ECD4364A}">
  <ds:schemaRefs>
    <ds:schemaRef ds:uri="http://schemas.microsoft.com/sharepoint/v3/contenttype/forms"/>
  </ds:schemaRefs>
</ds:datastoreItem>
</file>

<file path=customXml/itemProps2.xml><?xml version="1.0" encoding="utf-8"?>
<ds:datastoreItem xmlns:ds="http://schemas.openxmlformats.org/officeDocument/2006/customXml" ds:itemID="{5A3EE4EA-81C0-48D0-BEBD-A2EFD6B38B4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2FC9C26-AD58-4393-99DE-F67958CF6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{D842BC14-24F5-4570-8ACA-0E8CFAEEA3CD}TF2989475c-5427-4edb-9ec1-00f4ce72165b77c8433f_win32-c33c42577f73</Template>
  <TotalTime>135</TotalTime>
  <Words>1260</Words>
  <Application>Microsoft Office PowerPoint</Application>
  <PresentationFormat>Widescreen</PresentationFormat>
  <Paragraphs>217</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Segoe UI</vt:lpstr>
      <vt:lpstr>Segoe UI Light</vt:lpstr>
      <vt:lpstr>Times New Roman</vt:lpstr>
      <vt:lpstr>Wingdings</vt:lpstr>
      <vt:lpstr>Custom</vt:lpstr>
      <vt:lpstr>             Mini Investigation Report                     Company: Zoom</vt:lpstr>
      <vt:lpstr>Company Overview – Zoom Communications</vt:lpstr>
      <vt:lpstr>                    Basic Information</vt:lpstr>
      <vt:lpstr>Company Background</vt:lpstr>
      <vt:lpstr>Core Products and Services</vt:lpstr>
      <vt:lpstr>Website Investigation – Zoom Communications</vt:lpstr>
      <vt:lpstr>products and Services Available </vt:lpstr>
      <vt:lpstr>  products and Services Available </vt:lpstr>
      <vt:lpstr>                             OSINT Findings</vt:lpstr>
      <vt:lpstr>                           Google Dorks Used</vt:lpstr>
      <vt:lpstr>                             Google Dorks Used</vt:lpstr>
      <vt:lpstr>DNS &amp; URL Investigation – Zoom Communications</vt:lpstr>
      <vt:lpstr>DNS Records Investigation</vt:lpstr>
      <vt:lpstr>Digital Footprint Investigation – Zoom Communications</vt:lpstr>
      <vt:lpstr>Internet Archive Analysis – Zoom Communications</vt:lpstr>
      <vt:lpstr>                          Security– Zoom Communications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midhun m</dc:creator>
  <cp:keywords/>
  <cp:lastModifiedBy>midhun m</cp:lastModifiedBy>
  <cp:revision>1</cp:revision>
  <dcterms:created xsi:type="dcterms:W3CDTF">2026-07-09T13:18:30Z</dcterms:created>
  <dcterms:modified xsi:type="dcterms:W3CDTF">2026-07-11T10:49:39Z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